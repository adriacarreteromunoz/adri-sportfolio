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embeddedFontLst>
    <p:embeddedFont>
      <p:font typeface="Courier New"/>
      <p:regular r:id="rId25"/>
    </p:embeddedFont>
    <p:embeddedFont>
      <p:font typeface="DM Sans"/>
      <p:regular r:id="rId26"/>
    </p:embeddedFont>
    <p:embeddedFont>
      <p:font typeface="Protest Demo"/>
      <p:regular r:id="rId27"/>
    </p:embeddedFont>
    <p:embeddedFont>
      <p:font typeface="Playfair"/>
      <p:regular r:id="rId28"/>
    </p:embeddedFont>
    <p:embeddedFont>
      <p:font typeface="Space Mono"/>
      <p:regular r:id="rId29"/>
    </p:embeddedFont>
    <p:embeddedFont>
      <p:font typeface="Poiret One"/>
      <p:regular r:id="rId30"/>
    </p:embeddedFont>
    <p:embeddedFont>
      <p:font typeface="Playfair Display"/>
      <p:regular r:id="rId31"/>
    </p:embeddedFont>
    <p:embeddedFont>
      <p:font typeface="Inter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xmlns="" Id="rId25" Type="http://schemas.openxmlformats.org/officeDocument/2006/relationships/font" Target="fonts/rId25.fntdata"/><Relationship xmlns="" Id="rId26" Type="http://schemas.openxmlformats.org/officeDocument/2006/relationships/font" Target="fonts/rId26.fntdata"/><Relationship xmlns="" Id="rId27" Type="http://schemas.openxmlformats.org/officeDocument/2006/relationships/font" Target="fonts/rId27.fntdata"/><Relationship xmlns="" Id="rId28" Type="http://schemas.openxmlformats.org/officeDocument/2006/relationships/font" Target="fonts/rId28.fntdata"/><Relationship xmlns="" Id="rId29" Type="http://schemas.openxmlformats.org/officeDocument/2006/relationships/font" Target="fonts/rId29.fntdata"/><Relationship xmlns="" Id="rId30" Type="http://schemas.openxmlformats.org/officeDocument/2006/relationships/font" Target="fonts/rId30.fntdata"/><Relationship xmlns="" Id="rId31" Type="http://schemas.openxmlformats.org/officeDocument/2006/relationships/font" Target="fonts/rId31.fntdata"/><Relationship xmlns="" Id="rId32" Type="http://schemas.openxmlformats.org/officeDocument/2006/relationships/font" Target="fonts/rId3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hola@solell.cat" TargetMode="External"/><Relationship Id="rId1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3.png"/><Relationship Id="rId5" Type="http://schemas.openxmlformats.org/officeDocument/2006/relationships/image" Target="../media/image-17-4.png"/><Relationship Id="rId6" Type="http://schemas.openxmlformats.org/officeDocument/2006/relationships/image" Target="../media/image-17-5.png"/><Relationship Id="rId7" Type="http://schemas.openxmlformats.org/officeDocument/2006/relationships/image" Target="../media/image-17-6.png"/><Relationship Id="rId8" Type="http://schemas.openxmlformats.org/officeDocument/2006/relationships/image" Target="../media/image-17-7.png"/><Relationship Id="rId9" Type="http://schemas.openxmlformats.org/officeDocument/2006/relationships/image" Target="../media/image-17-8.png"/><Relationship Id="rId10" Type="http://schemas.openxmlformats.org/officeDocument/2006/relationships/image" Target="../media/image-17-9.png"/><Relationship Id="rId11" Type="http://schemas.openxmlformats.org/officeDocument/2006/relationships/image" Target="../media/image-17-10.png"/><Relationship Id="rId12" Type="http://schemas.openxmlformats.org/officeDocument/2006/relationships/image" Target="../media/image-17-11.png"/><Relationship Id="rId13" Type="http://schemas.openxmlformats.org/officeDocument/2006/relationships/image" Target="../media/image-17-12.png"/><Relationship Id="rId14" Type="http://schemas.openxmlformats.org/officeDocument/2006/relationships/image" Target="../media/image-17-13.png"/><Relationship Id="rId15" Type="http://schemas.openxmlformats.org/officeDocument/2006/relationships/image" Target="../media/image-17-14.png"/><Relationship Id="rId16" Type="http://schemas.openxmlformats.org/officeDocument/2006/relationships/image" Target="../media/image-17-15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8450" y="4957763"/>
            <a:ext cx="3462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8"/>
              </a:lnSpc>
              <a:buNone/>
            </a:pPr>
            <a:r>
              <a:rPr lang="en-US" sz="534" i="1" spc="-5" kern="0" dirty="0">
                <a:solidFill>
                  <a:srgbClr val="000000">
                    <a:alpha val="9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Versión 4.0 · 2026 ·  uso interno · Barcelona</a:t>
            </a:r>
            <a:endParaRPr lang="en-US" sz="534" dirty="0"/>
          </a:p>
        </p:txBody>
      </p:sp>
      <p:sp>
        <p:nvSpPr>
          <p:cNvPr id="3" name="Text 1"/>
          <p:cNvSpPr/>
          <p:nvPr/>
        </p:nvSpPr>
        <p:spPr>
          <a:xfrm>
            <a:off x="3509963" y="1613632"/>
            <a:ext cx="20907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DE IDENTIDAD CORPORATIVA</a:t>
            </a:r>
            <a:endParaRPr lang="en-US" sz="534" dirty="0"/>
          </a:p>
        </p:txBody>
      </p:sp>
      <p:sp>
        <p:nvSpPr>
          <p:cNvPr id="4" name="Shape 2"/>
          <p:cNvSpPr/>
          <p:nvPr/>
        </p:nvSpPr>
        <p:spPr>
          <a:xfrm>
            <a:off x="2138363" y="1357313"/>
            <a:ext cx="4867275" cy="2428875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1604963" y="1840706"/>
            <a:ext cx="59340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0"/>
              </a:lnSpc>
              <a:buNone/>
            </a:pPr>
            <a:r>
              <a:rPr lang="en-US" sz="7125" spc="-142" kern="0" dirty="0">
                <a:solidFill>
                  <a:srgbClr val="12466E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Solell</a:t>
            </a:r>
            <a:endParaRPr lang="en-US" sz="7125" dirty="0"/>
          </a:p>
        </p:txBody>
      </p:sp>
      <p:sp>
        <p:nvSpPr>
          <p:cNvPr id="6" name="Text 4"/>
          <p:cNvSpPr/>
          <p:nvPr/>
        </p:nvSpPr>
        <p:spPr>
          <a:xfrm>
            <a:off x="2138363" y="3064669"/>
            <a:ext cx="48672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i="1" spc="-13" kern="0" dirty="0">
                <a:solidFill>
                  <a:srgbClr val="000000">
                    <a:alpha val="99000"/>
                  </a:srgbClr>
                </a:solidFill>
                <a:latin typeface="Playfair" pitchFamily="34" charset="0"/>
                <a:ea typeface="Playfair" pitchFamily="34" charset="-122"/>
                <a:cs typeface="Playfair" pitchFamily="34" charset="-120"/>
              </a:rPr>
              <a:t>Un lugar donde vive el sol</a:t>
            </a:r>
            <a:endParaRPr lang="en-US" sz="128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20988" t="0" b="33333"/>
          <a:stretch/>
        </p:blipFill>
        <p:spPr>
          <a:xfrm>
            <a:off x="-1214437" y="-1285875"/>
            <a:ext cx="9144000" cy="51435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FAF8F3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01 - ESSENCIA </a:t>
            </a:r>
            <a:endParaRPr lang="en-US" sz="534" dirty="0"/>
          </a:p>
        </p:txBody>
      </p:sp>
      <p:sp>
        <p:nvSpPr>
          <p:cNvPr id="3" name="Text 1"/>
          <p:cNvSpPr/>
          <p:nvPr/>
        </p:nvSpPr>
        <p:spPr>
          <a:xfrm>
            <a:off x="152400" y="609600"/>
            <a:ext cx="346233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FAF8F3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Tono i valores</a:t>
            </a:r>
            <a:endParaRPr lang="en-US" sz="3028" dirty="0"/>
          </a:p>
        </p:txBody>
      </p:sp>
      <p:sp>
        <p:nvSpPr>
          <p:cNvPr id="4" name="Text 2"/>
          <p:cNvSpPr/>
          <p:nvPr/>
        </p:nvSpPr>
        <p:spPr>
          <a:xfrm>
            <a:off x="461963" y="1828800"/>
            <a:ext cx="36528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C9A961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Solell és un cafè de especialitat a Barcelona on el modernisme català, la llum mediterrània i el cafè honest es troben. No som una cadena. Som un lloc.</a:t>
            </a:r>
            <a:endParaRPr lang="en-US" sz="570" dirty="0"/>
          </a:p>
        </p:txBody>
      </p:sp>
      <p:sp>
        <p:nvSpPr>
          <p:cNvPr id="5" name="Text 3"/>
          <p:cNvSpPr/>
          <p:nvPr/>
        </p:nvSpPr>
        <p:spPr>
          <a:xfrm>
            <a:off x="5019675" y="947737"/>
            <a:ext cx="1556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534" dirty="0"/>
          </a:p>
        </p:txBody>
      </p:sp>
      <p:sp>
        <p:nvSpPr>
          <p:cNvPr id="6" name="Text 4"/>
          <p:cNvSpPr/>
          <p:nvPr/>
        </p:nvSpPr>
        <p:spPr>
          <a:xfrm>
            <a:off x="5019675" y="1571625"/>
            <a:ext cx="1556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534" dirty="0"/>
          </a:p>
        </p:txBody>
      </p:sp>
      <p:sp>
        <p:nvSpPr>
          <p:cNvPr id="7" name="Text 5"/>
          <p:cNvSpPr/>
          <p:nvPr/>
        </p:nvSpPr>
        <p:spPr>
          <a:xfrm>
            <a:off x="5019675" y="2228850"/>
            <a:ext cx="1556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534" dirty="0"/>
          </a:p>
        </p:txBody>
      </p:sp>
      <p:sp>
        <p:nvSpPr>
          <p:cNvPr id="8" name="Text 6"/>
          <p:cNvSpPr/>
          <p:nvPr/>
        </p:nvSpPr>
        <p:spPr>
          <a:xfrm>
            <a:off x="6921328" y="890588"/>
            <a:ext cx="1765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Sofisticación sin ostentación. lujo accesible con buen gusto mediterráneo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6921328" y="2124075"/>
            <a:ext cx="1765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detalle pensado. Geometría i orden con toque artesanal</a:t>
            </a:r>
            <a:endParaRPr lang="en-US" sz="570" dirty="0"/>
          </a:p>
        </p:txBody>
      </p:sp>
      <p:sp>
        <p:nvSpPr>
          <p:cNvPr id="10" name="Text 8"/>
          <p:cNvSpPr/>
          <p:nvPr/>
        </p:nvSpPr>
        <p:spPr>
          <a:xfrm>
            <a:off x="6921328" y="1514475"/>
            <a:ext cx="1765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la calma del mar en el atardecer. Espacio para respirar en medio de la ciudad</a:t>
            </a:r>
            <a:endParaRPr lang="en-US" sz="570" dirty="0"/>
          </a:p>
        </p:txBody>
      </p:sp>
      <p:sp>
        <p:nvSpPr>
          <p:cNvPr id="11" name="Text 9"/>
          <p:cNvSpPr/>
          <p:nvPr/>
        </p:nvSpPr>
        <p:spPr>
          <a:xfrm>
            <a:off x="5262853" y="895350"/>
            <a:ext cx="1658474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Elegante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5262853" y="1519238"/>
            <a:ext cx="1658474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Sereno</a:t>
            </a:r>
            <a:endParaRPr lang="en-US" sz="1283" dirty="0"/>
          </a:p>
        </p:txBody>
      </p:sp>
      <p:sp>
        <p:nvSpPr>
          <p:cNvPr id="13" name="Text 11"/>
          <p:cNvSpPr/>
          <p:nvPr/>
        </p:nvSpPr>
        <p:spPr>
          <a:xfrm>
            <a:off x="5262853" y="2176463"/>
            <a:ext cx="1658474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preciso</a:t>
            </a:r>
            <a:endParaRPr lang="en-US" sz="1283" dirty="0"/>
          </a:p>
        </p:txBody>
      </p:sp>
      <p:sp>
        <p:nvSpPr>
          <p:cNvPr id="14" name="Shape 12"/>
          <p:cNvSpPr/>
          <p:nvPr/>
        </p:nvSpPr>
        <p:spPr>
          <a:xfrm rot="5409725">
            <a:off x="5934271" y="1726406"/>
            <a:ext cx="1824044" cy="0"/>
          </a:xfrm>
          <a:prstGeom prst="line">
            <a:avLst/>
          </a:prstGeom>
          <a:noFill/>
          <a:ln w="4524">
            <a:solidFill>
              <a:srgbClr val="FAF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4913" y="2705100"/>
            <a:ext cx="1556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534" dirty="0"/>
          </a:p>
        </p:txBody>
      </p:sp>
      <p:sp>
        <p:nvSpPr>
          <p:cNvPr id="16" name="Text 14"/>
          <p:cNvSpPr/>
          <p:nvPr/>
        </p:nvSpPr>
        <p:spPr>
          <a:xfrm>
            <a:off x="5014913" y="3328988"/>
            <a:ext cx="1556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534" dirty="0"/>
          </a:p>
        </p:txBody>
      </p:sp>
      <p:sp>
        <p:nvSpPr>
          <p:cNvPr id="17" name="Text 15"/>
          <p:cNvSpPr/>
          <p:nvPr/>
        </p:nvSpPr>
        <p:spPr>
          <a:xfrm>
            <a:off x="5014913" y="3986213"/>
            <a:ext cx="1556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534" dirty="0"/>
          </a:p>
        </p:txBody>
      </p:sp>
      <p:sp>
        <p:nvSpPr>
          <p:cNvPr id="18" name="Text 16"/>
          <p:cNvSpPr/>
          <p:nvPr/>
        </p:nvSpPr>
        <p:spPr>
          <a:xfrm>
            <a:off x="6916565" y="2647950"/>
            <a:ext cx="1765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Mar, cerámica, luz. La esencia de la costa catalana.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6916565" y="3881438"/>
            <a:ext cx="17654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Gama alta, pero cercana. Exclusivo sin excluir.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6916565" y="3271838"/>
            <a:ext cx="1765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Geometría Suiza, aplicada a estética mediterránea. Orden sin frío</a:t>
            </a:r>
            <a:endParaRPr lang="en-US" sz="570" dirty="0"/>
          </a:p>
        </p:txBody>
      </p:sp>
      <p:sp>
        <p:nvSpPr>
          <p:cNvPr id="21" name="Text 19"/>
          <p:cNvSpPr/>
          <p:nvPr/>
        </p:nvSpPr>
        <p:spPr>
          <a:xfrm>
            <a:off x="5258091" y="2652713"/>
            <a:ext cx="1658474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mediterráneo</a:t>
            </a:r>
            <a:endParaRPr lang="en-US" sz="1283" dirty="0"/>
          </a:p>
        </p:txBody>
      </p:sp>
      <p:sp>
        <p:nvSpPr>
          <p:cNvPr id="22" name="Text 20"/>
          <p:cNvSpPr/>
          <p:nvPr/>
        </p:nvSpPr>
        <p:spPr>
          <a:xfrm>
            <a:off x="5258091" y="3276600"/>
            <a:ext cx="1658474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honesto</a:t>
            </a:r>
            <a:endParaRPr lang="en-US" sz="1283" dirty="0"/>
          </a:p>
        </p:txBody>
      </p:sp>
      <p:sp>
        <p:nvSpPr>
          <p:cNvPr id="23" name="Text 21"/>
          <p:cNvSpPr/>
          <p:nvPr/>
        </p:nvSpPr>
        <p:spPr>
          <a:xfrm>
            <a:off x="5258091" y="3933825"/>
            <a:ext cx="1658474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FAF8F3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acesible</a:t>
            </a:r>
            <a:endParaRPr lang="en-US" sz="1283" dirty="0"/>
          </a:p>
        </p:txBody>
      </p:sp>
      <p:sp>
        <p:nvSpPr>
          <p:cNvPr id="24" name="Shape 22"/>
          <p:cNvSpPr/>
          <p:nvPr/>
        </p:nvSpPr>
        <p:spPr>
          <a:xfrm rot="5409725">
            <a:off x="5929508" y="3483768"/>
            <a:ext cx="1824044" cy="0"/>
          </a:xfrm>
          <a:prstGeom prst="line">
            <a:avLst/>
          </a:prstGeom>
          <a:noFill/>
          <a:ln w="4524">
            <a:solidFill>
              <a:srgbClr val="FAF8F3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16279"/>
          <a:stretch/>
        </p:blipFill>
        <p:spPr>
          <a:xfrm>
            <a:off x="0" y="-500062"/>
            <a:ext cx="9144000" cy="514350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20988" t="0" b="33333"/>
          <a:stretch/>
        </p:blipFill>
        <p:spPr>
          <a:xfrm>
            <a:off x="-1214437" y="-1285875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10013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TAGLINE</a:t>
            </a:r>
            <a:endParaRPr lang="en-US" sz="534" dirty="0"/>
          </a:p>
        </p:txBody>
      </p:sp>
      <p:sp>
        <p:nvSpPr>
          <p:cNvPr id="4" name="Text 1"/>
          <p:cNvSpPr/>
          <p:nvPr/>
        </p:nvSpPr>
        <p:spPr>
          <a:xfrm>
            <a:off x="304800" y="1714500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Concepte</a:t>
            </a:r>
            <a:endParaRPr lang="en-US" sz="534" dirty="0"/>
          </a:p>
        </p:txBody>
      </p:sp>
      <p:sp>
        <p:nvSpPr>
          <p:cNvPr id="5" name="Text 2"/>
          <p:cNvSpPr/>
          <p:nvPr/>
        </p:nvSpPr>
        <p:spPr>
          <a:xfrm>
            <a:off x="152400" y="342900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02 - Naming</a:t>
            </a:r>
            <a:endParaRPr lang="en-US" sz="534" dirty="0"/>
          </a:p>
        </p:txBody>
      </p:sp>
      <p:sp>
        <p:nvSpPr>
          <p:cNvPr id="6" name="Shape 3"/>
          <p:cNvSpPr/>
          <p:nvPr/>
        </p:nvSpPr>
        <p:spPr>
          <a:xfrm>
            <a:off x="152400" y="590550"/>
            <a:ext cx="1695450" cy="485775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152400" y="590550"/>
            <a:ext cx="18192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Solell</a:t>
            </a:r>
            <a:endParaRPr lang="en-US" sz="3028" dirty="0"/>
          </a:p>
        </p:txBody>
      </p:sp>
      <p:sp>
        <p:nvSpPr>
          <p:cNvPr id="8" name="Text 5"/>
          <p:cNvSpPr/>
          <p:nvPr/>
        </p:nvSpPr>
        <p:spPr>
          <a:xfrm>
            <a:off x="5344474" y="1200150"/>
            <a:ext cx="6983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Etimología</a:t>
            </a:r>
            <a:endParaRPr lang="en-US" sz="534" dirty="0"/>
          </a:p>
        </p:txBody>
      </p:sp>
      <p:sp>
        <p:nvSpPr>
          <p:cNvPr id="9" name="Text 6"/>
          <p:cNvSpPr/>
          <p:nvPr/>
        </p:nvSpPr>
        <p:spPr>
          <a:xfrm>
            <a:off x="4829175" y="2133600"/>
            <a:ext cx="16337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B3A5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 catalan </a:t>
            </a:r>
            <a:pPr algn="ctr" indent="0" marL="0">
              <a:lnSpc>
                <a:spcPts val="798"/>
              </a:lnSpc>
              <a:buNone/>
            </a:pPr>
            <a:r>
              <a:rPr lang="en-US" sz="570" i="1" spc="11" kern="0" dirty="0">
                <a:solidFill>
                  <a:srgbClr val="1B3A5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solell</a:t>
            </a:r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B3A5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Lugar que recibe el sol directamente. </a:t>
            </a:r>
            <a:endParaRPr lang="en-US" sz="570" dirty="0"/>
          </a:p>
        </p:txBody>
      </p:sp>
      <p:sp>
        <p:nvSpPr>
          <p:cNvPr id="10" name="Text 7"/>
          <p:cNvSpPr/>
          <p:nvPr/>
        </p:nvSpPr>
        <p:spPr>
          <a:xfrm>
            <a:off x="304800" y="1862138"/>
            <a:ext cx="39624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B3A5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LUZ NATURAL, CAFÉ DE ESPECILIIDAD, PLANTAS, BARCELONA, RETRO 70’s</a:t>
            </a:r>
            <a:endParaRPr lang="en-US" sz="570" dirty="0"/>
          </a:p>
        </p:txBody>
      </p:sp>
      <p:sp>
        <p:nvSpPr>
          <p:cNvPr id="11" name="Text 8"/>
          <p:cNvSpPr/>
          <p:nvPr/>
        </p:nvSpPr>
        <p:spPr>
          <a:xfrm>
            <a:off x="347663" y="1257300"/>
            <a:ext cx="18859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i="1" spc="-26" kern="0" dirty="0">
                <a:solidFill>
                  <a:srgbClr val="1B3A5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"On el cafè troba la llum."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5024542" y="1509713"/>
            <a:ext cx="1338263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6"/>
              </a:lnSpc>
              <a:buNone/>
            </a:pPr>
            <a:r>
              <a:rPr lang="en-US" sz="2280" spc="-46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Solell</a:t>
            </a:r>
            <a:endParaRPr lang="en-US" sz="2280" dirty="0"/>
          </a:p>
        </p:txBody>
      </p:sp>
      <p:sp>
        <p:nvSpPr>
          <p:cNvPr id="13" name="Text 10"/>
          <p:cNvSpPr/>
          <p:nvPr/>
        </p:nvSpPr>
        <p:spPr>
          <a:xfrm>
            <a:off x="5225997" y="3181350"/>
            <a:ext cx="92911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Pronunciación</a:t>
            </a:r>
            <a:endParaRPr lang="en-US" sz="534" dirty="0"/>
          </a:p>
        </p:txBody>
      </p:sp>
      <p:sp>
        <p:nvSpPr>
          <p:cNvPr id="14" name="Text 11"/>
          <p:cNvSpPr/>
          <p:nvPr/>
        </p:nvSpPr>
        <p:spPr>
          <a:xfrm>
            <a:off x="4876800" y="4099507"/>
            <a:ext cx="16337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B3A52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Dol silabas. El acento cae a la ultima. Suena cálidao, cercano, mediterráneo</a:t>
            </a:r>
            <a:endParaRPr lang="en-US" sz="570" dirty="0"/>
          </a:p>
        </p:txBody>
      </p:sp>
      <p:sp>
        <p:nvSpPr>
          <p:cNvPr id="15" name="Text 12"/>
          <p:cNvSpPr/>
          <p:nvPr/>
        </p:nvSpPr>
        <p:spPr>
          <a:xfrm>
            <a:off x="5132461" y="3492005"/>
            <a:ext cx="111618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34" kern="0" dirty="0">
                <a:solidFill>
                  <a:srgbClr val="1B3A52">
                    <a:alpha val="99000"/>
                  </a:srgbClr>
                </a:solidFill>
                <a:latin typeface="Poiret One" pitchFamily="34" charset="0"/>
                <a:ea typeface="Poiret One" pitchFamily="34" charset="-122"/>
                <a:cs typeface="Poiret One" pitchFamily="34" charset="-120"/>
              </a:rPr>
              <a:t>/so·ˈʎeʎ/</a:t>
            </a:r>
            <a:endParaRPr lang="en-US" sz="1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03.5 - JUSTIFICACIÓN DEL SÍMBOLO</a:t>
            </a:r>
            <a:endParaRPr lang="en-US" sz="534" dirty="0"/>
          </a:p>
        </p:txBody>
      </p:sp>
      <p:sp>
        <p:nvSpPr>
          <p:cNvPr id="3" name="Text 1"/>
          <p:cNvSpPr/>
          <p:nvPr/>
        </p:nvSpPr>
        <p:spPr>
          <a:xfrm>
            <a:off x="152400" y="590550"/>
            <a:ext cx="5319713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Sol Mediterráneo</a:t>
            </a:r>
            <a:endParaRPr lang="en-US" sz="3028" dirty="0"/>
          </a:p>
        </p:txBody>
      </p:sp>
      <p:sp>
        <p:nvSpPr>
          <p:cNvPr id="4" name="Text 2"/>
          <p:cNvSpPr/>
          <p:nvPr/>
        </p:nvSpPr>
        <p:spPr>
          <a:xfrm>
            <a:off x="614363" y="1838325"/>
            <a:ext cx="3652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logo de SOLELL no es solo un ornamento. es una síntesis visual de todo lo que somos: luz, movienteo y raíces.</a:t>
            </a:r>
            <a:endParaRPr lang="en-US" sz="570" dirty="0"/>
          </a:p>
        </p:txBody>
      </p:sp>
      <p:sp>
        <p:nvSpPr>
          <p:cNvPr id="5" name="Text 3"/>
          <p:cNvSpPr/>
          <p:nvPr/>
        </p:nvSpPr>
        <p:spPr>
          <a:xfrm>
            <a:off x="5019675" y="1862138"/>
            <a:ext cx="1556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4742A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534" dirty="0"/>
          </a:p>
        </p:txBody>
      </p:sp>
      <p:sp>
        <p:nvSpPr>
          <p:cNvPr id="6" name="Text 4"/>
          <p:cNvSpPr/>
          <p:nvPr/>
        </p:nvSpPr>
        <p:spPr>
          <a:xfrm>
            <a:off x="5019675" y="2486025"/>
            <a:ext cx="1556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4742A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534" dirty="0"/>
          </a:p>
        </p:txBody>
      </p:sp>
      <p:sp>
        <p:nvSpPr>
          <p:cNvPr id="7" name="Text 5"/>
          <p:cNvSpPr/>
          <p:nvPr/>
        </p:nvSpPr>
        <p:spPr>
          <a:xfrm>
            <a:off x="5019675" y="3143250"/>
            <a:ext cx="155634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4742A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534" dirty="0"/>
          </a:p>
        </p:txBody>
      </p:sp>
      <p:sp>
        <p:nvSpPr>
          <p:cNvPr id="8" name="Text 6"/>
          <p:cNvSpPr/>
          <p:nvPr/>
        </p:nvSpPr>
        <p:spPr>
          <a:xfrm>
            <a:off x="6921326" y="1804988"/>
            <a:ext cx="176547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angulo redondo recuerda a un interior casero: el rincón donde te sientas. orientado hacia el sol.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6921326" y="3038475"/>
            <a:ext cx="176547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punto de luuz que lo concentra todo. Calor, origen i presencia plena en el corazón del símbolo,</a:t>
            </a:r>
            <a:endParaRPr lang="en-US" sz="570" dirty="0"/>
          </a:p>
        </p:txBody>
      </p:sp>
      <p:sp>
        <p:nvSpPr>
          <p:cNvPr id="10" name="Text 8"/>
          <p:cNvSpPr/>
          <p:nvPr/>
        </p:nvSpPr>
        <p:spPr>
          <a:xfrm>
            <a:off x="6921326" y="2428875"/>
            <a:ext cx="1765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curva cenbtral referencia la extracción: el liquido se muere. Dinamismo i porceso artesana.</a:t>
            </a:r>
            <a:endParaRPr lang="en-US" sz="570" dirty="0"/>
          </a:p>
        </p:txBody>
      </p:sp>
      <p:sp>
        <p:nvSpPr>
          <p:cNvPr id="11" name="Text 9"/>
          <p:cNvSpPr/>
          <p:nvPr/>
        </p:nvSpPr>
        <p:spPr>
          <a:xfrm>
            <a:off x="5262853" y="1809750"/>
            <a:ext cx="1658474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arco: tu rincón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5262853" y="2433638"/>
            <a:ext cx="165847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0la: el movimiento</a:t>
            </a:r>
            <a:endParaRPr lang="en-US" sz="1283" dirty="0"/>
          </a:p>
        </p:txBody>
      </p:sp>
      <p:sp>
        <p:nvSpPr>
          <p:cNvPr id="13" name="Text 11"/>
          <p:cNvSpPr/>
          <p:nvPr/>
        </p:nvSpPr>
        <p:spPr>
          <a:xfrm>
            <a:off x="5262853" y="3090863"/>
            <a:ext cx="1658474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circulo</a:t>
            </a:r>
            <a:endParaRPr lang="en-US" sz="1283" dirty="0"/>
          </a:p>
        </p:txBody>
      </p:sp>
      <p:sp>
        <p:nvSpPr>
          <p:cNvPr id="14" name="Shape 12"/>
          <p:cNvSpPr/>
          <p:nvPr/>
        </p:nvSpPr>
        <p:spPr>
          <a:xfrm rot="5409725">
            <a:off x="5934271" y="2640806"/>
            <a:ext cx="1824044" cy="0"/>
          </a:xfrm>
          <a:prstGeom prst="line">
            <a:avLst/>
          </a:prstGeom>
          <a:noFill/>
          <a:ln w="4524">
            <a:solidFill>
              <a:srgbClr val="1C1A17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23077"/>
          <a:stretch/>
        </p:blipFill>
        <p:spPr>
          <a:xfrm>
            <a:off x="0" y="-15430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1205"/>
          <a:stretch/>
        </p:blipFill>
        <p:spPr>
          <a:xfrm>
            <a:off x="2381250" y="457200"/>
            <a:ext cx="3400425" cy="4686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205"/>
          <a:stretch/>
        </p:blipFill>
        <p:spPr>
          <a:xfrm>
            <a:off x="9144000" y="457200"/>
            <a:ext cx="3400425" cy="4686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90060"/>
          <a:stretch/>
        </p:blipFill>
        <p:spPr>
          <a:xfrm>
            <a:off x="2381250" y="-4271962"/>
            <a:ext cx="3400425" cy="4714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90060"/>
          <a:stretch/>
        </p:blipFill>
        <p:spPr>
          <a:xfrm>
            <a:off x="9144000" y="-4271962"/>
            <a:ext cx="3400425" cy="4714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rcRect l="0" r="29412" t="0" b="1205"/>
          <a:stretch/>
        </p:blipFill>
        <p:spPr>
          <a:xfrm>
            <a:off x="-1000125" y="457200"/>
            <a:ext cx="2400300" cy="4686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rcRect l="0" r="560" t="0" b="1205"/>
          <a:stretch/>
        </p:blipFill>
        <p:spPr>
          <a:xfrm>
            <a:off x="5762625" y="457200"/>
            <a:ext cx="3381375" cy="4686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rcRect l="0" r="29412" t="0" b="90060"/>
          <a:stretch/>
        </p:blipFill>
        <p:spPr>
          <a:xfrm>
            <a:off x="-1000125" y="-4271962"/>
            <a:ext cx="2400300" cy="4714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rcRect l="0" r="560" t="0" b="90060"/>
          <a:stretch/>
        </p:blipFill>
        <p:spPr>
          <a:xfrm>
            <a:off x="5762625" y="-4271962"/>
            <a:ext cx="3381375" cy="47148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04 - CONSTRUCCIÓN DEL LOGO</a:t>
            </a:r>
            <a:endParaRPr lang="en-US" sz="534" dirty="0"/>
          </a:p>
        </p:txBody>
      </p:sp>
      <p:sp>
        <p:nvSpPr>
          <p:cNvPr id="11" name="Text 1"/>
          <p:cNvSpPr/>
          <p:nvPr/>
        </p:nvSpPr>
        <p:spPr>
          <a:xfrm>
            <a:off x="147638" y="590550"/>
            <a:ext cx="44672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Construcción</a:t>
            </a:r>
            <a:endParaRPr lang="en-US" sz="3028" dirty="0"/>
          </a:p>
        </p:txBody>
      </p:sp>
      <p:sp>
        <p:nvSpPr>
          <p:cNvPr id="12" name="Text 2"/>
          <p:cNvSpPr/>
          <p:nvPr/>
        </p:nvSpPr>
        <p:spPr>
          <a:xfrm>
            <a:off x="7496175" y="1159540"/>
            <a:ext cx="828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4742A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El Meridià Solar </a:t>
            </a:r>
            <a:endParaRPr lang="en-US" sz="534" dirty="0"/>
          </a:p>
        </p:txBody>
      </p:sp>
      <p:sp>
        <p:nvSpPr>
          <p:cNvPr id="13" name="Text 3"/>
          <p:cNvSpPr/>
          <p:nvPr/>
        </p:nvSpPr>
        <p:spPr>
          <a:xfrm>
            <a:off x="7605713" y="357188"/>
            <a:ext cx="6096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4742A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Concepto</a:t>
            </a:r>
            <a:endParaRPr lang="en-US" sz="534" dirty="0"/>
          </a:p>
        </p:txBody>
      </p:sp>
      <p:sp>
        <p:nvSpPr>
          <p:cNvPr id="14" name="Text 4"/>
          <p:cNvSpPr/>
          <p:nvPr/>
        </p:nvSpPr>
        <p:spPr>
          <a:xfrm>
            <a:off x="7424737" y="2328904"/>
            <a:ext cx="9763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4742A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Olas Mediterráneas </a:t>
            </a:r>
            <a:endParaRPr lang="en-US" sz="534" dirty="0"/>
          </a:p>
        </p:txBody>
      </p:sp>
      <p:sp>
        <p:nvSpPr>
          <p:cNvPr id="15" name="Text 5"/>
          <p:cNvSpPr/>
          <p:nvPr/>
        </p:nvSpPr>
        <p:spPr>
          <a:xfrm>
            <a:off x="6996113" y="1428552"/>
            <a:ext cx="182880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fotografies el sol des de Barcelona cada dia a la mateixa hora durant un any i superposes les imatges, el sol traça una figura en forma de S al cel (l'analema). Aquesta S és el recorregut solar real: no és metàfora, és geometria astronòmica. La lletra inicial de Solell conté literalment el trajecte del sol.</a:t>
            </a:r>
            <a:endParaRPr lang="en-US" sz="570" dirty="0"/>
          </a:p>
        </p:txBody>
      </p:sp>
      <p:sp>
        <p:nvSpPr>
          <p:cNvPr id="16" name="Text 6"/>
          <p:cNvSpPr/>
          <p:nvPr/>
        </p:nvSpPr>
        <p:spPr>
          <a:xfrm>
            <a:off x="6996113" y="2526574"/>
            <a:ext cx="1828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dos curvas fluidas recuerdan las olas del mar Mediterráneo al atardecer: movimiento sereno, elegante, sin ángulos. Formas orgánicas que respiran, nunca rígidas. El mismo lenguaje visual del modernismo catalán de Gaudí.</a:t>
            </a:r>
            <a:endParaRPr lang="en-US" sz="570" dirty="0"/>
          </a:p>
        </p:txBody>
      </p:sp>
      <p:sp>
        <p:nvSpPr>
          <p:cNvPr id="17" name="Text 7"/>
          <p:cNvSpPr/>
          <p:nvPr/>
        </p:nvSpPr>
        <p:spPr>
          <a:xfrm>
            <a:off x="6996113" y="681757"/>
            <a:ext cx="1828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S de SOLELL se construye con dos curvas ondulantes que evocan múltiples significados coherentes con la marca:</a:t>
            </a:r>
            <a:endParaRPr lang="en-US" sz="57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058503" y="1123950"/>
            <a:ext cx="1704975" cy="953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 rot="10800000">
            <a:off x="7058025" y="2309813"/>
            <a:ext cx="1704975" cy="0"/>
          </a:xfrm>
          <a:prstGeom prst="line">
            <a:avLst/>
          </a:prstGeom>
          <a:noFill/>
          <a:ln w="905">
            <a:solidFill>
              <a:srgbClr val="332F28"/>
            </a:solidFill>
            <a:prstDash val="solid"/>
          </a:ln>
        </p:spPr>
      </p:sp>
      <p:sp>
        <p:nvSpPr>
          <p:cNvPr id="20" name="Text 9"/>
          <p:cNvSpPr/>
          <p:nvPr/>
        </p:nvSpPr>
        <p:spPr>
          <a:xfrm>
            <a:off x="7219950" y="4068344"/>
            <a:ext cx="138112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4742A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Dualidad Equilibrada</a:t>
            </a:r>
            <a:endParaRPr lang="en-US" sz="534" dirty="0"/>
          </a:p>
        </p:txBody>
      </p:sp>
      <p:sp>
        <p:nvSpPr>
          <p:cNvPr id="21" name="Text 10"/>
          <p:cNvSpPr/>
          <p:nvPr/>
        </p:nvSpPr>
        <p:spPr>
          <a:xfrm>
            <a:off x="7219950" y="3200400"/>
            <a:ext cx="138112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4742A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Elegancia Minimalista</a:t>
            </a:r>
            <a:endParaRPr lang="en-US" sz="534" dirty="0"/>
          </a:p>
        </p:txBody>
      </p:sp>
      <p:sp>
        <p:nvSpPr>
          <p:cNvPr id="22" name="Text 11"/>
          <p:cNvSpPr/>
          <p:nvPr/>
        </p:nvSpPr>
        <p:spPr>
          <a:xfrm>
            <a:off x="6996113" y="4339608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 curvas simétricas invertidas que se complementan. Tradición e innovación. Artesanal y preciso. Mediterráneo y contemporáneo. La marca en una sola forma.</a:t>
            </a:r>
            <a:endParaRPr lang="en-US" sz="570" dirty="0"/>
          </a:p>
        </p:txBody>
      </p:sp>
      <p:sp>
        <p:nvSpPr>
          <p:cNvPr id="23" name="Text 12"/>
          <p:cNvSpPr/>
          <p:nvPr/>
        </p:nvSpPr>
        <p:spPr>
          <a:xfrm>
            <a:off x="6996113" y="3524969"/>
            <a:ext cx="1828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 línea continua que se curva con precisión geométrica. Sofisticación sin ornamentación excesiva. Premium accesible: memorable sin ser complicada.</a:t>
            </a:r>
            <a:endParaRPr lang="en-US" sz="570" dirty="0"/>
          </a:p>
        </p:txBody>
      </p:sp>
      <p:sp>
        <p:nvSpPr>
          <p:cNvPr id="24" name="Shape 13"/>
          <p:cNvSpPr/>
          <p:nvPr/>
        </p:nvSpPr>
        <p:spPr>
          <a:xfrm rot="10800000">
            <a:off x="7058025" y="4000500"/>
            <a:ext cx="1704975" cy="0"/>
          </a:xfrm>
          <a:prstGeom prst="line">
            <a:avLst/>
          </a:prstGeom>
          <a:noFill/>
          <a:ln w="905">
            <a:solidFill>
              <a:srgbClr val="332F28"/>
            </a:solidFill>
            <a:prstDash val="solid"/>
          </a:ln>
        </p:spPr>
      </p:sp>
      <p:sp>
        <p:nvSpPr>
          <p:cNvPr id="25" name="Shape 14"/>
          <p:cNvSpPr/>
          <p:nvPr/>
        </p:nvSpPr>
        <p:spPr>
          <a:xfrm rot="10800000">
            <a:off x="7058025" y="3152775"/>
            <a:ext cx="1704975" cy="0"/>
          </a:xfrm>
          <a:prstGeom prst="line">
            <a:avLst/>
          </a:prstGeom>
          <a:noFill/>
          <a:ln w="905">
            <a:solidFill>
              <a:srgbClr val="332F28"/>
            </a:solidFill>
            <a:prstDash val="solid"/>
          </a:ln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747963" y="1309688"/>
            <a:ext cx="2781300" cy="36623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03 - SISTEMA DE LOGO</a:t>
            </a:r>
            <a:endParaRPr lang="en-US" sz="534" dirty="0"/>
          </a:p>
        </p:txBody>
      </p:sp>
      <p:sp>
        <p:nvSpPr>
          <p:cNvPr id="3" name="Shape 1"/>
          <p:cNvSpPr/>
          <p:nvPr/>
        </p:nvSpPr>
        <p:spPr>
          <a:xfrm>
            <a:off x="157163" y="585788"/>
            <a:ext cx="3581400" cy="1457325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157163" y="585788"/>
            <a:ext cx="358140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el simbolo y sus </a:t>
            </a:r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variantes</a:t>
            </a:r>
            <a:endParaRPr lang="en-US" sz="3028" dirty="0"/>
          </a:p>
        </p:txBody>
      </p:sp>
      <p:sp>
        <p:nvSpPr>
          <p:cNvPr id="5" name="Text 3"/>
          <p:cNvSpPr/>
          <p:nvPr/>
        </p:nvSpPr>
        <p:spPr>
          <a:xfrm>
            <a:off x="5829300" y="800100"/>
            <a:ext cx="2705100" cy="823913"/>
          </a:xfrm>
          <a:prstGeom prst="roundRect">
            <a:avLst>
              <a:gd name="adj" fmla="val 6659"/>
            </a:avLst>
          </a:prstGeom>
          <a:solidFill>
            <a:srgbClr val="1C1A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 rot="10800000">
            <a:off x="5829300" y="757238"/>
            <a:ext cx="2705100" cy="0"/>
          </a:xfrm>
          <a:prstGeom prst="line">
            <a:avLst/>
          </a:prstGeom>
          <a:noFill/>
          <a:ln w="4524">
            <a:solidFill>
              <a:srgbClr val="332F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5829300" y="2452688"/>
            <a:ext cx="2705100" cy="0"/>
          </a:xfrm>
          <a:prstGeom prst="line">
            <a:avLst/>
          </a:prstGeom>
          <a:noFill/>
          <a:ln w="4524">
            <a:solidFill>
              <a:srgbClr val="332F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829300" y="3300413"/>
            <a:ext cx="2705100" cy="0"/>
          </a:xfrm>
          <a:prstGeom prst="line">
            <a:avLst/>
          </a:prstGeom>
          <a:noFill/>
          <a:ln w="4524">
            <a:solidFill>
              <a:srgbClr val="332F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5829300" y="4148138"/>
            <a:ext cx="2705100" cy="0"/>
          </a:xfrm>
          <a:prstGeom prst="line">
            <a:avLst/>
          </a:prstGeom>
          <a:noFill/>
          <a:ln w="4524">
            <a:solidFill>
              <a:srgbClr val="332F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829300" y="4933950"/>
            <a:ext cx="2705100" cy="0"/>
          </a:xfrm>
          <a:prstGeom prst="line">
            <a:avLst/>
          </a:prstGeom>
          <a:noFill/>
          <a:ln w="4524">
            <a:solidFill>
              <a:srgbClr val="332F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988" y="700088"/>
            <a:ext cx="77152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1C1A17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PRINCIPAL - SOBRE CLARO</a:t>
            </a:r>
            <a:endParaRPr lang="en-US" sz="392" dirty="0"/>
          </a:p>
        </p:txBody>
      </p:sp>
      <p:sp>
        <p:nvSpPr>
          <p:cNvPr id="12" name="Text 10"/>
          <p:cNvSpPr/>
          <p:nvPr/>
        </p:nvSpPr>
        <p:spPr>
          <a:xfrm>
            <a:off x="6757988" y="1533525"/>
            <a:ext cx="77152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FFFFFF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NEGATIVO - SOBRE OSCURO</a:t>
            </a:r>
            <a:endParaRPr lang="en-US" sz="392" dirty="0"/>
          </a:p>
        </p:txBody>
      </p:sp>
      <p:sp>
        <p:nvSpPr>
          <p:cNvPr id="13" name="Text 11"/>
          <p:cNvSpPr/>
          <p:nvPr/>
        </p:nvSpPr>
        <p:spPr>
          <a:xfrm>
            <a:off x="6929438" y="2395538"/>
            <a:ext cx="442913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1C1A17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VERIÓN TIERRA</a:t>
            </a:r>
            <a:endParaRPr lang="en-US" sz="392" dirty="0"/>
          </a:p>
        </p:txBody>
      </p:sp>
      <p:sp>
        <p:nvSpPr>
          <p:cNvPr id="14" name="Text 12"/>
          <p:cNvSpPr/>
          <p:nvPr/>
        </p:nvSpPr>
        <p:spPr>
          <a:xfrm>
            <a:off x="6924675" y="3228975"/>
            <a:ext cx="442913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1C1A17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VERSIÓN VERDE</a:t>
            </a:r>
            <a:endParaRPr lang="en-US" sz="392" dirty="0"/>
          </a:p>
        </p:txBody>
      </p:sp>
      <p:sp>
        <p:nvSpPr>
          <p:cNvPr id="15" name="Text 13"/>
          <p:cNvSpPr/>
          <p:nvPr/>
        </p:nvSpPr>
        <p:spPr>
          <a:xfrm>
            <a:off x="6786563" y="4076700"/>
            <a:ext cx="71437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1C1A17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WOODMARK (SIN SÍMBOLO)</a:t>
            </a:r>
            <a:endParaRPr lang="en-US" sz="392" dirty="0"/>
          </a:p>
        </p:txBody>
      </p:sp>
      <p:sp>
        <p:nvSpPr>
          <p:cNvPr id="16" name="Text 14"/>
          <p:cNvSpPr/>
          <p:nvPr/>
        </p:nvSpPr>
        <p:spPr>
          <a:xfrm>
            <a:off x="6786563" y="4862513"/>
            <a:ext cx="71437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1C1A17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SÍMBOLO (STANDALONE)</a:t>
            </a:r>
            <a:endParaRPr lang="en-US" sz="392" dirty="0"/>
          </a:p>
        </p:txBody>
      </p:sp>
      <p:sp>
        <p:nvSpPr>
          <p:cNvPr id="17" name="Text 15"/>
          <p:cNvSpPr/>
          <p:nvPr/>
        </p:nvSpPr>
        <p:spPr>
          <a:xfrm>
            <a:off x="6424613" y="3490913"/>
            <a:ext cx="176688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SOLELL</a:t>
            </a:r>
            <a:endParaRPr lang="en-US" sz="3028" dirty="0"/>
          </a:p>
        </p:txBody>
      </p:sp>
      <p:sp>
        <p:nvSpPr>
          <p:cNvPr id="18" name="Text 16"/>
          <p:cNvSpPr/>
          <p:nvPr/>
        </p:nvSpPr>
        <p:spPr>
          <a:xfrm>
            <a:off x="6567488" y="190500"/>
            <a:ext cx="17716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olell</a:t>
            </a:r>
            <a:endParaRPr lang="en-US" sz="3028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72213" y="214313"/>
            <a:ext cx="322135" cy="42386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67488" y="985838"/>
            <a:ext cx="17716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FAF8F3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olell</a:t>
            </a:r>
            <a:endParaRPr lang="en-US" sz="3028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2213" y="1009650"/>
            <a:ext cx="322135" cy="42386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67488" y="1824038"/>
            <a:ext cx="17716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C9A961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olell</a:t>
            </a:r>
            <a:endParaRPr lang="en-US" sz="3028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72213" y="1847850"/>
            <a:ext cx="322135" cy="42386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67488" y="2657475"/>
            <a:ext cx="17716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3A563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olell</a:t>
            </a:r>
            <a:endParaRPr lang="en-US" sz="3028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76975" y="2681288"/>
            <a:ext cx="322135" cy="423863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43750" y="4381500"/>
            <a:ext cx="322135" cy="4238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06 - VERSIONES EN BLANCO Y NEGRO</a:t>
            </a:r>
            <a:endParaRPr lang="en-US" sz="534" dirty="0"/>
          </a:p>
        </p:txBody>
      </p:sp>
      <p:sp>
        <p:nvSpPr>
          <p:cNvPr id="3" name="Shape 1"/>
          <p:cNvSpPr/>
          <p:nvPr/>
        </p:nvSpPr>
        <p:spPr>
          <a:xfrm>
            <a:off x="157163" y="595313"/>
            <a:ext cx="6567488" cy="485775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157163" y="595313"/>
            <a:ext cx="656748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Mono </a:t>
            </a:r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cromático</a:t>
            </a:r>
            <a:endParaRPr lang="en-US" sz="3028" dirty="0"/>
          </a:p>
        </p:txBody>
      </p:sp>
      <p:sp>
        <p:nvSpPr>
          <p:cNvPr id="5" name="Text 3"/>
          <p:cNvSpPr/>
          <p:nvPr/>
        </p:nvSpPr>
        <p:spPr>
          <a:xfrm>
            <a:off x="2719388" y="2133600"/>
            <a:ext cx="3652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impresiones de un solo color, documentos oficiales o situaciones donde el color no es posible, se utilizan las versiones monocromáticas. Nunca se usarán escalas de grises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3424238" y="2555683"/>
            <a:ext cx="2062163" cy="633435"/>
          </a:xfrm>
          <a:prstGeom prst="roundRect">
            <a:avLst>
              <a:gd name="adj" fmla="val 10105"/>
            </a:avLst>
          </a:prstGeom>
          <a:noFill/>
          <a:ln w="4524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76700" y="3162300"/>
            <a:ext cx="609600" cy="52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090987" y="3143250"/>
            <a:ext cx="595313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1C1A17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NEGRO SOBRE BLANCO</a:t>
            </a:r>
            <a:endParaRPr lang="en-US" sz="392" dirty="0"/>
          </a:p>
        </p:txBody>
      </p:sp>
      <p:sp>
        <p:nvSpPr>
          <p:cNvPr id="9" name="Text 7"/>
          <p:cNvSpPr/>
          <p:nvPr/>
        </p:nvSpPr>
        <p:spPr>
          <a:xfrm>
            <a:off x="3886200" y="2657475"/>
            <a:ext cx="17716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olell</a:t>
            </a:r>
            <a:endParaRPr lang="en-US" sz="3028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90925" y="2681288"/>
            <a:ext cx="322135" cy="4238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05 - TAMAÑOS MINIMOS DE REPRODUCCIÓN</a:t>
            </a:r>
            <a:endParaRPr lang="en-US" sz="534" dirty="0"/>
          </a:p>
        </p:txBody>
      </p:sp>
      <p:sp>
        <p:nvSpPr>
          <p:cNvPr id="3" name="Shape 1"/>
          <p:cNvSpPr/>
          <p:nvPr/>
        </p:nvSpPr>
        <p:spPr>
          <a:xfrm>
            <a:off x="152400" y="561975"/>
            <a:ext cx="3462338" cy="97155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152400" y="561975"/>
            <a:ext cx="631031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Legible a cualquier </a:t>
            </a:r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escala</a:t>
            </a:r>
            <a:endParaRPr lang="en-US" sz="3028" dirty="0"/>
          </a:p>
        </p:txBody>
      </p:sp>
      <p:sp>
        <p:nvSpPr>
          <p:cNvPr id="5" name="Text 3"/>
          <p:cNvSpPr/>
          <p:nvPr/>
        </p:nvSpPr>
        <p:spPr>
          <a:xfrm>
            <a:off x="614363" y="1838325"/>
            <a:ext cx="3652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garantizar la legibilidad del sómbolo i sus detalles, no se puede seducir por debajo de estas midas mínimas: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2481263" y="3785507"/>
            <a:ext cx="6221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 web y redes</a:t>
            </a:r>
            <a:endParaRPr lang="en-US" sz="570" dirty="0"/>
          </a:p>
        </p:txBody>
      </p:sp>
      <p:sp>
        <p:nvSpPr>
          <p:cNvPr id="7" name="Text 5"/>
          <p:cNvSpPr/>
          <p:nvPr/>
        </p:nvSpPr>
        <p:spPr>
          <a:xfrm>
            <a:off x="3681413" y="3785507"/>
            <a:ext cx="6843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Impresión  Offset / digital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4881563" y="3785507"/>
            <a:ext cx="6221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Bordados  Uniformes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6081713" y="3785507"/>
            <a:ext cx="6221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Serigrafia  Packaging</a:t>
            </a:r>
            <a:endParaRPr lang="en-US" sz="570" dirty="0"/>
          </a:p>
        </p:txBody>
      </p:sp>
      <p:sp>
        <p:nvSpPr>
          <p:cNvPr id="10" name="Text 8"/>
          <p:cNvSpPr/>
          <p:nvPr/>
        </p:nvSpPr>
        <p:spPr>
          <a:xfrm>
            <a:off x="2609850" y="3497160"/>
            <a:ext cx="3670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pixeles</a:t>
            </a:r>
            <a:endParaRPr lang="en-US" sz="570" dirty="0"/>
          </a:p>
        </p:txBody>
      </p:sp>
      <p:sp>
        <p:nvSpPr>
          <p:cNvPr id="11" name="Text 9"/>
          <p:cNvSpPr/>
          <p:nvPr/>
        </p:nvSpPr>
        <p:spPr>
          <a:xfrm>
            <a:off x="3929063" y="3497160"/>
            <a:ext cx="1928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mm</a:t>
            </a:r>
            <a:endParaRPr lang="en-US" sz="570" dirty="0"/>
          </a:p>
        </p:txBody>
      </p:sp>
      <p:sp>
        <p:nvSpPr>
          <p:cNvPr id="12" name="Text 10"/>
          <p:cNvSpPr/>
          <p:nvPr/>
        </p:nvSpPr>
        <p:spPr>
          <a:xfrm>
            <a:off x="6296025" y="3497160"/>
            <a:ext cx="1928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mm</a:t>
            </a:r>
            <a:endParaRPr lang="en-US" sz="570" dirty="0"/>
          </a:p>
        </p:txBody>
      </p:sp>
      <p:sp>
        <p:nvSpPr>
          <p:cNvPr id="13" name="Text 11"/>
          <p:cNvSpPr/>
          <p:nvPr/>
        </p:nvSpPr>
        <p:spPr>
          <a:xfrm>
            <a:off x="5095875" y="3497160"/>
            <a:ext cx="1928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mm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2686050" y="3282043"/>
            <a:ext cx="21413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4"/>
              </a:lnSpc>
              <a:buNone/>
            </a:pPr>
            <a:r>
              <a:rPr lang="en-US" sz="989" b="1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32</a:t>
            </a:r>
            <a:endParaRPr lang="en-US" sz="989" dirty="0"/>
          </a:p>
        </p:txBody>
      </p:sp>
      <p:sp>
        <p:nvSpPr>
          <p:cNvPr id="15" name="Text 13"/>
          <p:cNvSpPr/>
          <p:nvPr/>
        </p:nvSpPr>
        <p:spPr>
          <a:xfrm>
            <a:off x="3914775" y="3282043"/>
            <a:ext cx="21413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4"/>
              </a:lnSpc>
              <a:buNone/>
            </a:pPr>
            <a:r>
              <a:rPr lang="en-US" sz="989" b="1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</a:t>
            </a:r>
            <a:endParaRPr lang="en-US" sz="989" dirty="0"/>
          </a:p>
        </p:txBody>
      </p:sp>
      <p:sp>
        <p:nvSpPr>
          <p:cNvPr id="16" name="Text 14"/>
          <p:cNvSpPr/>
          <p:nvPr/>
        </p:nvSpPr>
        <p:spPr>
          <a:xfrm>
            <a:off x="5086350" y="3282043"/>
            <a:ext cx="21413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4"/>
              </a:lnSpc>
              <a:buNone/>
            </a:pPr>
            <a:r>
              <a:rPr lang="en-US" sz="989" b="1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22</a:t>
            </a:r>
            <a:endParaRPr lang="en-US" sz="989" dirty="0"/>
          </a:p>
        </p:txBody>
      </p:sp>
      <p:sp>
        <p:nvSpPr>
          <p:cNvPr id="17" name="Text 15"/>
          <p:cNvSpPr/>
          <p:nvPr/>
        </p:nvSpPr>
        <p:spPr>
          <a:xfrm>
            <a:off x="6286500" y="3282043"/>
            <a:ext cx="21413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4"/>
              </a:lnSpc>
              <a:buNone/>
            </a:pPr>
            <a:r>
              <a:rPr lang="en-US" sz="989" b="1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18</a:t>
            </a:r>
            <a:endParaRPr lang="en-US" sz="989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14149"/>
          <a:stretch/>
        </p:blipFill>
        <p:spPr>
          <a:xfrm>
            <a:off x="0" y="-847725"/>
            <a:ext cx="9144000" cy="514350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86050" y="3000375"/>
            <a:ext cx="152400" cy="2000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57625" y="2843213"/>
            <a:ext cx="270002" cy="355263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76813" y="2681288"/>
            <a:ext cx="396004" cy="521053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29350" y="2771775"/>
            <a:ext cx="324000" cy="4263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3A563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07 - PALETA CORPORATIVA</a:t>
            </a:r>
            <a:endParaRPr lang="en-US" sz="534" dirty="0"/>
          </a:p>
        </p:txBody>
      </p:sp>
      <p:sp>
        <p:nvSpPr>
          <p:cNvPr id="3" name="Text 1"/>
          <p:cNvSpPr/>
          <p:nvPr/>
        </p:nvSpPr>
        <p:spPr>
          <a:xfrm>
            <a:off x="119063" y="561975"/>
            <a:ext cx="3571875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Paleta </a:t>
            </a:r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Corporativa</a:t>
            </a:r>
            <a:endParaRPr lang="en-US" sz="3028" dirty="0"/>
          </a:p>
        </p:txBody>
      </p:sp>
      <p:sp>
        <p:nvSpPr>
          <p:cNvPr id="4" name="Text 2"/>
          <p:cNvSpPr/>
          <p:nvPr/>
        </p:nvSpPr>
        <p:spPr>
          <a:xfrm>
            <a:off x="614363" y="1838325"/>
            <a:ext cx="3652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paleta se inspira en el interior de un café bañado del sol de la tade: colores Tierra calidos, verde de plantas (acento) i la crema del café con leche</a:t>
            </a:r>
            <a:endParaRPr lang="en-US" sz="570" dirty="0"/>
          </a:p>
        </p:txBody>
      </p:sp>
      <p:sp>
        <p:nvSpPr>
          <p:cNvPr id="5" name="Text 3"/>
          <p:cNvSpPr/>
          <p:nvPr/>
        </p:nvSpPr>
        <p:spPr>
          <a:xfrm>
            <a:off x="4081463" y="2562225"/>
            <a:ext cx="71913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Blanco</a:t>
            </a:r>
            <a:endParaRPr lang="en-US" sz="1283" dirty="0"/>
          </a:p>
          <a:p>
            <a:pPr algn="ctr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puro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4029075" y="3538538"/>
            <a:ext cx="7477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HEX #FAF8F3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RGB 250 ·
248 · 243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CMYK 0 · 1
· 3 · 2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Pantone 7563
C</a:t>
            </a:r>
            <a:endParaRPr lang="en-US" sz="392" dirty="0"/>
          </a:p>
        </p:txBody>
      </p:sp>
      <p:sp>
        <p:nvSpPr>
          <p:cNvPr id="7" name="Text 5"/>
          <p:cNvSpPr/>
          <p:nvPr/>
        </p:nvSpPr>
        <p:spPr>
          <a:xfrm>
            <a:off x="4014788" y="4005262"/>
            <a:ext cx="6143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Color de Acción (CTA) y Acentos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2976563" y="2590800"/>
            <a:ext cx="7286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Dorado antiguo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2995613" y="3538538"/>
            <a:ext cx="7477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HEX #C9A961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RGB 201 · 169
· 97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CMYK 0 · 16
· 52 · 21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Pantone 7526
C</a:t>
            </a:r>
            <a:endParaRPr lang="en-US" sz="392" dirty="0"/>
          </a:p>
        </p:txBody>
      </p:sp>
      <p:sp>
        <p:nvSpPr>
          <p:cNvPr id="10" name="Text 8"/>
          <p:cNvSpPr/>
          <p:nvPr/>
        </p:nvSpPr>
        <p:spPr>
          <a:xfrm>
            <a:off x="3062288" y="4005262"/>
            <a:ext cx="6143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Logo, accents, CTA</a:t>
            </a:r>
            <a:endParaRPr lang="en-US" sz="570" dirty="0"/>
          </a:p>
        </p:txBody>
      </p:sp>
      <p:sp>
        <p:nvSpPr>
          <p:cNvPr id="11" name="Text 9"/>
          <p:cNvSpPr/>
          <p:nvPr/>
        </p:nvSpPr>
        <p:spPr>
          <a:xfrm>
            <a:off x="1962150" y="2562225"/>
            <a:ext cx="857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Negro profundo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2000250" y="3538538"/>
            <a:ext cx="7477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HEX #1A1816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RGB 26 · 24
· 22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CMYK 0 · 8
· 15 · 90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Pantone 7734
C</a:t>
            </a:r>
            <a:endParaRPr lang="en-US" sz="392" dirty="0"/>
          </a:p>
        </p:txBody>
      </p:sp>
      <p:sp>
        <p:nvSpPr>
          <p:cNvPr id="13" name="Text 11"/>
          <p:cNvSpPr/>
          <p:nvPr/>
        </p:nvSpPr>
        <p:spPr>
          <a:xfrm>
            <a:off x="2081212" y="4057650"/>
            <a:ext cx="614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Texto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6115050" y="2562225"/>
            <a:ext cx="5762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Verde planta</a:t>
            </a:r>
            <a:endParaRPr lang="en-US" sz="1283" dirty="0"/>
          </a:p>
        </p:txBody>
      </p:sp>
      <p:sp>
        <p:nvSpPr>
          <p:cNvPr id="15" name="Text 13"/>
          <p:cNvSpPr/>
          <p:nvPr/>
        </p:nvSpPr>
        <p:spPr>
          <a:xfrm>
            <a:off x="6048375" y="3538538"/>
            <a:ext cx="7477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HEX #4A6741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RGB 74 · 103
· 65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CMYK 28 · 0
· 37 · 60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Pantone 7734
C</a:t>
            </a:r>
            <a:endParaRPr lang="en-US" sz="392" dirty="0"/>
          </a:p>
        </p:txBody>
      </p:sp>
      <p:sp>
        <p:nvSpPr>
          <p:cNvPr id="16" name="Text 14"/>
          <p:cNvSpPr/>
          <p:nvPr/>
        </p:nvSpPr>
        <p:spPr>
          <a:xfrm>
            <a:off x="6091238" y="4005262"/>
            <a:ext cx="6143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Acentos y Resaltes</a:t>
            </a:r>
            <a:endParaRPr lang="en-US" sz="570" dirty="0"/>
          </a:p>
        </p:txBody>
      </p:sp>
      <p:sp>
        <p:nvSpPr>
          <p:cNvPr id="17" name="Text 15"/>
          <p:cNvSpPr/>
          <p:nvPr/>
        </p:nvSpPr>
        <p:spPr>
          <a:xfrm>
            <a:off x="5057775" y="2562225"/>
            <a:ext cx="666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Azul noche</a:t>
            </a:r>
            <a:endParaRPr lang="en-US" sz="1283" dirty="0"/>
          </a:p>
        </p:txBody>
      </p:sp>
      <p:sp>
        <p:nvSpPr>
          <p:cNvPr id="18" name="Text 16"/>
          <p:cNvSpPr/>
          <p:nvPr/>
        </p:nvSpPr>
        <p:spPr>
          <a:xfrm>
            <a:off x="5014913" y="3538538"/>
            <a:ext cx="7477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HEX #1B3A52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RGB 27 ·
58 · 82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CMYK 0 · 16 ·
52 · 21
</a:t>
            </a:r>
            <a:endParaRPr lang="en-US" sz="392" dirty="0"/>
          </a:p>
          <a:p>
            <a:pPr algn="ctr" indent="0" marL="0">
              <a:lnSpc>
                <a:spcPts val="549"/>
              </a:lnSpc>
              <a:buNone/>
            </a:pPr>
            <a:r>
              <a:rPr lang="en-US" sz="392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Pantone 9183
C</a:t>
            </a:r>
            <a:endParaRPr lang="en-US" sz="392" dirty="0"/>
          </a:p>
        </p:txBody>
      </p:sp>
      <p:sp>
        <p:nvSpPr>
          <p:cNvPr id="19" name="Text 17"/>
          <p:cNvSpPr/>
          <p:nvPr/>
        </p:nvSpPr>
        <p:spPr>
          <a:xfrm>
            <a:off x="5081588" y="3952875"/>
            <a:ext cx="6143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Color de Fondo, texto sobre oscuro</a:t>
            </a:r>
            <a:endParaRPr lang="en-US" sz="57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16279"/>
          <a:stretch/>
        </p:blipFill>
        <p:spPr>
          <a:xfrm>
            <a:off x="0" y="-500062"/>
            <a:ext cx="9144000" cy="514350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5625"/>
          <a:stretch/>
        </p:blipFill>
        <p:spPr>
          <a:xfrm>
            <a:off x="0" y="-476250"/>
            <a:ext cx="9144000" cy="51435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24300" y="3019425"/>
            <a:ext cx="914400" cy="400050"/>
          </a:xfrm>
          <a:prstGeom prst="roundRect">
            <a:avLst>
              <a:gd name="adj" fmla="val 43429"/>
            </a:avLst>
          </a:prstGeom>
          <a:solidFill>
            <a:srgbClr val="FAF8F3"/>
          </a:solidFill>
          <a:ln w="4524">
            <a:solidFill>
              <a:srgbClr val="000000">
                <a:alpha val="5200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914650" y="3019425"/>
            <a:ext cx="914400" cy="400050"/>
          </a:xfrm>
          <a:prstGeom prst="roundRect">
            <a:avLst>
              <a:gd name="adj" fmla="val 43429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905000" y="3019425"/>
            <a:ext cx="914400" cy="400050"/>
          </a:xfrm>
          <a:prstGeom prst="roundRect">
            <a:avLst>
              <a:gd name="adj" fmla="val 43429"/>
            </a:avLst>
          </a:prstGeom>
          <a:solidFill>
            <a:srgbClr val="1A18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943600" y="3019425"/>
            <a:ext cx="914400" cy="400050"/>
          </a:xfrm>
          <a:prstGeom prst="roundRect">
            <a:avLst>
              <a:gd name="adj" fmla="val 43429"/>
            </a:avLst>
          </a:prstGeom>
          <a:solidFill>
            <a:srgbClr val="3A56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933950" y="3019425"/>
            <a:ext cx="914400" cy="400050"/>
          </a:xfrm>
          <a:prstGeom prst="roundRect">
            <a:avLst>
              <a:gd name="adj" fmla="val 43429"/>
            </a:avLst>
          </a:prstGeom>
          <a:solidFill>
            <a:srgbClr val="1B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07.5 - PALETA CORPORATIVA · COMBINACIONES</a:t>
            </a:r>
            <a:endParaRPr lang="en-US" sz="534" dirty="0"/>
          </a:p>
        </p:txBody>
      </p:sp>
      <p:sp>
        <p:nvSpPr>
          <p:cNvPr id="3" name="Text 1"/>
          <p:cNvSpPr/>
          <p:nvPr/>
        </p:nvSpPr>
        <p:spPr>
          <a:xfrm>
            <a:off x="61912" y="581025"/>
            <a:ext cx="48196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Combinaciones</a:t>
            </a:r>
            <a:endParaRPr lang="en-US" sz="3028" dirty="0"/>
          </a:p>
        </p:txBody>
      </p:sp>
      <p:sp>
        <p:nvSpPr>
          <p:cNvPr id="4" name="Text 2"/>
          <p:cNvSpPr/>
          <p:nvPr/>
        </p:nvSpPr>
        <p:spPr>
          <a:xfrm>
            <a:off x="819150" y="2343150"/>
            <a:ext cx="2528888" cy="576263"/>
          </a:xfrm>
          <a:prstGeom prst="roundRect">
            <a:avLst>
              <a:gd name="adj" fmla="val 30149"/>
            </a:avLst>
          </a:prstGeom>
          <a:solidFill>
            <a:srgbClr val="FAF8F3"/>
          </a:solidFill>
          <a:ln w="9049">
            <a:solidFill>
              <a:srgbClr val="C9A9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Fondo Blanco + Texto Negro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Acento Dorado / Verde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 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9150" y="3081338"/>
            <a:ext cx="2528888" cy="576263"/>
          </a:xfrm>
          <a:prstGeom prst="roundRect">
            <a:avLst>
              <a:gd name="adj" fmla="val 30149"/>
            </a:avLst>
          </a:prstGeom>
          <a:solidFill>
            <a:srgbClr val="FAF8F3"/>
          </a:solidFill>
          <a:ln w="9049">
            <a:solidFill>
              <a:srgbClr val="4A674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Fondo Blanco + Texto Azul noche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Verde Planta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 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09963" y="3081338"/>
            <a:ext cx="2528888" cy="576263"/>
          </a:xfrm>
          <a:prstGeom prst="roundRect">
            <a:avLst>
              <a:gd name="adj" fmla="val 30149"/>
            </a:avLst>
          </a:prstGeom>
          <a:solidFill>
            <a:srgbClr val="1A1816"/>
          </a:solidFill>
          <a:ln w="9049">
            <a:solidFill>
              <a:srgbClr val="C9A9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Fondo Blanco + Texto Azul noche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Acento Dorado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 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0300" y="3081338"/>
            <a:ext cx="2528888" cy="576263"/>
          </a:xfrm>
          <a:prstGeom prst="roundRect">
            <a:avLst>
              <a:gd name="adj" fmla="val 30149"/>
            </a:avLst>
          </a:prstGeom>
          <a:solidFill>
            <a:srgbClr val="1B3A52"/>
          </a:solidFill>
          <a:ln w="9049">
            <a:solidFill>
              <a:srgbClr val="4A674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Fondo Blanco + Texto Azul noche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Verde controlado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 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09963" y="2343150"/>
            <a:ext cx="2528888" cy="576263"/>
          </a:xfrm>
          <a:prstGeom prst="roundRect">
            <a:avLst>
              <a:gd name="adj" fmla="val 30149"/>
            </a:avLst>
          </a:prstGeom>
          <a:solidFill>
            <a:srgbClr val="1B3A52"/>
          </a:solidFill>
          <a:ln w="9049">
            <a:solidFill>
              <a:srgbClr val="C9A96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Fondo Azul noche + Texto Blanco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Acento Dorado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 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0300" y="2343150"/>
            <a:ext cx="2528888" cy="576263"/>
          </a:xfrm>
          <a:prstGeom prst="roundRect">
            <a:avLst>
              <a:gd name="adj" fmla="val 30149"/>
            </a:avLst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Fondo Dorado antiguo + Texto Negro profundo 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 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95688" y="2014538"/>
            <a:ext cx="19573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VARIANTES PERMITIDAS</a:t>
            </a:r>
            <a:endParaRPr lang="en-US" sz="85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7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" y="561975"/>
            <a:ext cx="4095750" cy="971550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152400" y="561975"/>
            <a:ext cx="40957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FFFFFF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Dos familias</a:t>
            </a:r>
            <a:endParaRPr lang="en-US" sz="3028" dirty="0"/>
          </a:p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C9A961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una voz</a:t>
            </a:r>
            <a:endParaRPr lang="en-US" sz="3028" dirty="0"/>
          </a:p>
        </p:txBody>
      </p:sp>
      <p:sp>
        <p:nvSpPr>
          <p:cNvPr id="5" name="Text 2"/>
          <p:cNvSpPr/>
          <p:nvPr/>
        </p:nvSpPr>
        <p:spPr>
          <a:xfrm>
            <a:off x="3433763" y="1981200"/>
            <a:ext cx="9334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9A96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PRINCIPAL -PROTEST</a:t>
            </a:r>
            <a:endParaRPr lang="en-US" sz="534" dirty="0"/>
          </a:p>
        </p:txBody>
      </p:sp>
      <p:sp>
        <p:nvSpPr>
          <p:cNvPr id="6" name="Text 3"/>
          <p:cNvSpPr/>
          <p:nvPr/>
        </p:nvSpPr>
        <p:spPr>
          <a:xfrm>
            <a:off x="3343275" y="2233613"/>
            <a:ext cx="1119188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6"/>
              </a:lnSpc>
              <a:buNone/>
            </a:pPr>
            <a:r>
              <a:rPr lang="en-US" sz="2280" spc="-46" kern="0" dirty="0">
                <a:solidFill>
                  <a:srgbClr val="FFFFFF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A B C D e f</a:t>
            </a:r>
            <a:endParaRPr lang="en-US" sz="2280" dirty="0"/>
          </a:p>
        </p:txBody>
      </p:sp>
      <p:sp>
        <p:nvSpPr>
          <p:cNvPr id="7" name="Text 4"/>
          <p:cNvSpPr/>
          <p:nvPr/>
        </p:nvSpPr>
        <p:spPr>
          <a:xfrm>
            <a:off x="3205163" y="3157538"/>
            <a:ext cx="1390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7"/>
              </a:lnSpc>
              <a:buNone/>
            </a:pPr>
            <a:r>
              <a:rPr lang="en-US" sz="356" spc="-7" kern="0" dirty="0">
                <a:solidFill>
                  <a:srgbClr val="FFFFFF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ABCDEFGHIJKLMNOPQRSTUVWXYZ
</a:t>
            </a:r>
            <a:endParaRPr lang="en-US" sz="356" dirty="0"/>
          </a:p>
        </p:txBody>
      </p:sp>
      <p:sp>
        <p:nvSpPr>
          <p:cNvPr id="8" name="Text 5"/>
          <p:cNvSpPr/>
          <p:nvPr/>
        </p:nvSpPr>
        <p:spPr>
          <a:xfrm>
            <a:off x="5267325" y="1981200"/>
            <a:ext cx="10287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C9A96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SECUNDARIA - DM SANS</a:t>
            </a:r>
            <a:endParaRPr lang="en-US" sz="534" dirty="0"/>
          </a:p>
        </p:txBody>
      </p:sp>
      <p:sp>
        <p:nvSpPr>
          <p:cNvPr id="9" name="Text 6"/>
          <p:cNvSpPr/>
          <p:nvPr/>
        </p:nvSpPr>
        <p:spPr>
          <a:xfrm>
            <a:off x="5253038" y="2200275"/>
            <a:ext cx="106203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672" spc="-53" kern="0" dirty="0">
                <a:solidFill>
                  <a:srgbClr val="BCBCBC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 Bb Cc Dd</a:t>
            </a:r>
            <a:endParaRPr lang="en-US" sz="2672" dirty="0"/>
          </a:p>
        </p:txBody>
      </p:sp>
      <p:sp>
        <p:nvSpPr>
          <p:cNvPr id="10" name="Text 7"/>
          <p:cNvSpPr/>
          <p:nvPr/>
        </p:nvSpPr>
        <p:spPr>
          <a:xfrm>
            <a:off x="5086350" y="3157538"/>
            <a:ext cx="1390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7"/>
              </a:lnSpc>
              <a:buNone/>
            </a:pPr>
            <a:r>
              <a:rPr lang="en-US" sz="606" spc="-12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ABCDEFGHIJKLMNOPQRSTUVWXYZ
</a:t>
            </a:r>
            <a:endParaRPr lang="en-US" sz="606" dirty="0"/>
          </a:p>
          <a:p>
            <a:pPr algn="ctr" indent="0" marL="0">
              <a:lnSpc>
                <a:spcPts val="727"/>
              </a:lnSpc>
              <a:buNone/>
            </a:pPr>
            <a:r>
              <a:rPr lang="en-US" sz="606" spc="-12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abcdefghijklmnopqrstuvwxyz
</a:t>
            </a:r>
            <a:endParaRPr lang="en-US" sz="606" dirty="0"/>
          </a:p>
          <a:p>
            <a:pPr algn="ctr" indent="0" marL="0">
              <a:lnSpc>
                <a:spcPts val="727"/>
              </a:lnSpc>
              <a:buNone/>
            </a:pPr>
            <a:r>
              <a:rPr lang="en-US" sz="606" spc="-12" kern="0" dirty="0">
                <a:solidFill>
                  <a:srgbClr val="FFFFFF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0123456789 !@#$%&amp;</a:t>
            </a:r>
            <a:endParaRPr lang="en-US" sz="606" dirty="0"/>
          </a:p>
        </p:txBody>
      </p:sp>
      <p:sp>
        <p:nvSpPr>
          <p:cNvPr id="11" name="Text 8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08 - TIPOGRAFIAS CORP.</a:t>
            </a:r>
            <a:endParaRPr lang="en-US" sz="5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" y="561975"/>
            <a:ext cx="3810000" cy="9715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52400" y="561975"/>
            <a:ext cx="3810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Dos familias</a:t>
            </a:r>
            <a:endParaRPr lang="en-US" sz="3028" dirty="0"/>
          </a:p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una voz</a:t>
            </a:r>
            <a:endParaRPr lang="en-US" sz="3028" dirty="0"/>
          </a:p>
        </p:txBody>
      </p:sp>
      <p:sp>
        <p:nvSpPr>
          <p:cNvPr id="4" name="Text 2"/>
          <p:cNvSpPr/>
          <p:nvPr/>
        </p:nvSpPr>
        <p:spPr>
          <a:xfrm>
            <a:off x="3009900" y="1981200"/>
            <a:ext cx="904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b="1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H1</a:t>
            </a:r>
            <a:endParaRPr lang="en-US" sz="534" dirty="0"/>
          </a:p>
        </p:txBody>
      </p:sp>
      <p:sp>
        <p:nvSpPr>
          <p:cNvPr id="5" name="Text 3"/>
          <p:cNvSpPr/>
          <p:nvPr/>
        </p:nvSpPr>
        <p:spPr>
          <a:xfrm>
            <a:off x="3286125" y="1852612"/>
            <a:ext cx="1447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565" spc="-5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Solell</a:t>
            </a:r>
            <a:endParaRPr lang="en-US" sz="2565" dirty="0"/>
          </a:p>
        </p:txBody>
      </p:sp>
      <p:sp>
        <p:nvSpPr>
          <p:cNvPr id="6" name="Text 4"/>
          <p:cNvSpPr/>
          <p:nvPr/>
        </p:nvSpPr>
        <p:spPr>
          <a:xfrm>
            <a:off x="5072063" y="1983327"/>
            <a:ext cx="2952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38-72pt</a:t>
            </a:r>
            <a:endParaRPr lang="en-US" sz="570" dirty="0"/>
          </a:p>
        </p:txBody>
      </p:sp>
      <p:sp>
        <p:nvSpPr>
          <p:cNvPr id="7" name="Text 5"/>
          <p:cNvSpPr/>
          <p:nvPr/>
        </p:nvSpPr>
        <p:spPr>
          <a:xfrm>
            <a:off x="5943600" y="1983327"/>
            <a:ext cx="5381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Playfair Black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3009900" y="2519363"/>
            <a:ext cx="904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b="1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H2</a:t>
            </a:r>
            <a:endParaRPr lang="en-US" sz="534" dirty="0"/>
          </a:p>
        </p:txBody>
      </p:sp>
      <p:sp>
        <p:nvSpPr>
          <p:cNvPr id="9" name="Text 7"/>
          <p:cNvSpPr/>
          <p:nvPr/>
        </p:nvSpPr>
        <p:spPr>
          <a:xfrm>
            <a:off x="3381375" y="2462213"/>
            <a:ext cx="10382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54" b="1" spc="-27" kern="0" dirty="0">
                <a:solidFill>
                  <a:srgbClr val="4A6741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Café del dia</a:t>
            </a:r>
            <a:endParaRPr lang="en-US" sz="1354" dirty="0"/>
          </a:p>
        </p:txBody>
      </p:sp>
      <p:sp>
        <p:nvSpPr>
          <p:cNvPr id="10" name="Text 8"/>
          <p:cNvSpPr/>
          <p:nvPr/>
        </p:nvSpPr>
        <p:spPr>
          <a:xfrm>
            <a:off x="5038725" y="2521489"/>
            <a:ext cx="3571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24-38pt</a:t>
            </a:r>
            <a:endParaRPr lang="en-US" sz="570" dirty="0"/>
          </a:p>
        </p:txBody>
      </p:sp>
      <p:sp>
        <p:nvSpPr>
          <p:cNvPr id="11" name="Text 9"/>
          <p:cNvSpPr/>
          <p:nvPr/>
        </p:nvSpPr>
        <p:spPr>
          <a:xfrm>
            <a:off x="5943600" y="2521489"/>
            <a:ext cx="5381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 Black</a:t>
            </a:r>
            <a:endParaRPr lang="en-US" sz="570" dirty="0"/>
          </a:p>
        </p:txBody>
      </p:sp>
      <p:sp>
        <p:nvSpPr>
          <p:cNvPr id="12" name="Text 10"/>
          <p:cNvSpPr/>
          <p:nvPr/>
        </p:nvSpPr>
        <p:spPr>
          <a:xfrm>
            <a:off x="3009900" y="3086100"/>
            <a:ext cx="9048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b="1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H3</a:t>
            </a:r>
            <a:endParaRPr lang="en-US" sz="534" dirty="0"/>
          </a:p>
        </p:txBody>
      </p:sp>
      <p:sp>
        <p:nvSpPr>
          <p:cNvPr id="13" name="Text 11"/>
          <p:cNvSpPr/>
          <p:nvPr/>
        </p:nvSpPr>
        <p:spPr>
          <a:xfrm>
            <a:off x="3381375" y="2933700"/>
            <a:ext cx="87153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spc="-17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Origen
</a:t>
            </a:r>
            <a:endParaRPr lang="en-US" sz="855" dirty="0"/>
          </a:p>
          <a:p>
            <a:pPr algn="l" indent="0" marL="0">
              <a:lnSpc>
                <a:spcPts val="1026"/>
              </a:lnSpc>
              <a:buNone/>
            </a:pPr>
            <a:r>
              <a:rPr lang="en-US" sz="855" spc="-17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Etiòpia
</a:t>
            </a:r>
            <a:endParaRPr lang="en-US" sz="855" dirty="0"/>
          </a:p>
          <a:p>
            <a:pPr algn="l" indent="0" marL="0">
              <a:lnSpc>
                <a:spcPts val="1026"/>
              </a:lnSpc>
              <a:buNone/>
            </a:pPr>
            <a:r>
              <a:rPr lang="en-US" sz="855" spc="-17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Yirgacheffe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5038725" y="3086100"/>
            <a:ext cx="3571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18-24pt</a:t>
            </a:r>
            <a:endParaRPr lang="en-US" sz="570" dirty="0"/>
          </a:p>
        </p:txBody>
      </p:sp>
      <p:sp>
        <p:nvSpPr>
          <p:cNvPr id="15" name="Text 13"/>
          <p:cNvSpPr/>
          <p:nvPr/>
        </p:nvSpPr>
        <p:spPr>
          <a:xfrm>
            <a:off x="5943600" y="3088226"/>
            <a:ext cx="5381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 Med.</a:t>
            </a:r>
            <a:endParaRPr lang="en-US" sz="570" dirty="0"/>
          </a:p>
        </p:txBody>
      </p:sp>
      <p:sp>
        <p:nvSpPr>
          <p:cNvPr id="16" name="Text 14"/>
          <p:cNvSpPr/>
          <p:nvPr/>
        </p:nvSpPr>
        <p:spPr>
          <a:xfrm>
            <a:off x="2957513" y="3652838"/>
            <a:ext cx="1952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b="1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body</a:t>
            </a:r>
            <a:endParaRPr lang="en-US" sz="534" dirty="0"/>
          </a:p>
        </p:txBody>
      </p:sp>
      <p:sp>
        <p:nvSpPr>
          <p:cNvPr id="17" name="Text 15"/>
          <p:cNvSpPr/>
          <p:nvPr/>
        </p:nvSpPr>
        <p:spPr>
          <a:xfrm>
            <a:off x="3381375" y="3609975"/>
            <a:ext cx="8715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"/>
              </a:lnSpc>
              <a:buNone/>
            </a:pPr>
            <a:r>
              <a:rPr lang="en-US" sz="570" spc="-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Notes de
xocolata,
fruita
vermella i
caramel.</a:t>
            </a:r>
            <a:endParaRPr lang="en-US" sz="570" dirty="0"/>
          </a:p>
        </p:txBody>
      </p:sp>
      <p:sp>
        <p:nvSpPr>
          <p:cNvPr id="18" name="Text 16"/>
          <p:cNvSpPr/>
          <p:nvPr/>
        </p:nvSpPr>
        <p:spPr>
          <a:xfrm>
            <a:off x="5072063" y="3648075"/>
            <a:ext cx="2952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14-16pt</a:t>
            </a:r>
            <a:endParaRPr lang="en-US" sz="570" dirty="0"/>
          </a:p>
        </p:txBody>
      </p:sp>
      <p:sp>
        <p:nvSpPr>
          <p:cNvPr id="19" name="Text 17"/>
          <p:cNvSpPr/>
          <p:nvPr/>
        </p:nvSpPr>
        <p:spPr>
          <a:xfrm>
            <a:off x="5943600" y="3648075"/>
            <a:ext cx="5381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 Light</a:t>
            </a:r>
            <a:endParaRPr lang="en-US" sz="570" dirty="0"/>
          </a:p>
        </p:txBody>
      </p:sp>
      <p:sp>
        <p:nvSpPr>
          <p:cNvPr id="20" name="Text 18"/>
          <p:cNvSpPr/>
          <p:nvPr/>
        </p:nvSpPr>
        <p:spPr>
          <a:xfrm>
            <a:off x="2895600" y="4114800"/>
            <a:ext cx="31432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b="1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caption</a:t>
            </a:r>
            <a:endParaRPr lang="en-US" sz="534" dirty="0"/>
          </a:p>
        </p:txBody>
      </p:sp>
      <p:sp>
        <p:nvSpPr>
          <p:cNvPr id="21" name="Text 19"/>
          <p:cNvSpPr/>
          <p:nvPr/>
        </p:nvSpPr>
        <p:spPr>
          <a:xfrm>
            <a:off x="3381375" y="4114800"/>
            <a:ext cx="8715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"/>
              </a:lnSpc>
              <a:buNone/>
            </a:pPr>
            <a:r>
              <a:rPr lang="en-US" sz="392" spc="-67" kern="0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 I T J A · 8 5 ° C
</a:t>
            </a:r>
            <a:endParaRPr lang="en-US" sz="392" dirty="0"/>
          </a:p>
          <a:p>
            <a:pPr algn="l" indent="0" marL="0">
              <a:lnSpc>
                <a:spcPts val="470"/>
              </a:lnSpc>
              <a:buNone/>
            </a:pPr>
            <a:r>
              <a:rPr lang="en-US" sz="392" spc="-67" kern="0" dirty="0">
                <a:solidFill>
                  <a:srgbClr val="000000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2 8 M L</a:t>
            </a:r>
            <a:endParaRPr lang="en-US" sz="392" dirty="0"/>
          </a:p>
        </p:txBody>
      </p:sp>
      <p:sp>
        <p:nvSpPr>
          <p:cNvPr id="22" name="Text 20"/>
          <p:cNvSpPr/>
          <p:nvPr/>
        </p:nvSpPr>
        <p:spPr>
          <a:xfrm>
            <a:off x="5072063" y="4116927"/>
            <a:ext cx="2952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9-11pt</a:t>
            </a:r>
            <a:endParaRPr lang="en-US" sz="570" dirty="0"/>
          </a:p>
        </p:txBody>
      </p:sp>
      <p:sp>
        <p:nvSpPr>
          <p:cNvPr id="23" name="Text 21"/>
          <p:cNvSpPr/>
          <p:nvPr/>
        </p:nvSpPr>
        <p:spPr>
          <a:xfrm>
            <a:off x="5943600" y="4116927"/>
            <a:ext cx="5381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Space Mono</a:t>
            </a:r>
            <a:endParaRPr lang="en-US" sz="570" dirty="0"/>
          </a:p>
        </p:txBody>
      </p:sp>
      <p:sp>
        <p:nvSpPr>
          <p:cNvPr id="24" name="Shape 22"/>
          <p:cNvSpPr/>
          <p:nvPr/>
        </p:nvSpPr>
        <p:spPr>
          <a:xfrm rot="-4982">
            <a:off x="3048000" y="2286000"/>
            <a:ext cx="328612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4982">
            <a:off x="3057525" y="2857500"/>
            <a:ext cx="328612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4982">
            <a:off x="3067050" y="3429000"/>
            <a:ext cx="328612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4982">
            <a:off x="3076575" y="4000500"/>
            <a:ext cx="3286128" cy="0"/>
          </a:xfrm>
          <a:prstGeom prst="line">
            <a:avLst/>
          </a:prstGeom>
          <a:noFill/>
          <a:ln w="4524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08 - FAMILIA DE TIPOGRAFÍAS</a:t>
            </a:r>
            <a:endParaRPr lang="en-US" sz="534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16279"/>
          <a:stretch/>
        </p:blipFill>
        <p:spPr>
          <a:xfrm>
            <a:off x="0" y="-500062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609600"/>
            <a:ext cx="44767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Lo que no se </a:t>
            </a:r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debe de hacer</a:t>
            </a:r>
            <a:endParaRPr lang="en-US" sz="3028" dirty="0"/>
          </a:p>
        </p:txBody>
      </p:sp>
      <p:sp>
        <p:nvSpPr>
          <p:cNvPr id="3" name="Text 1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09 - USOS INCORRECTOS</a:t>
            </a:r>
            <a:endParaRPr lang="en-US" sz="534" dirty="0"/>
          </a:p>
        </p:txBody>
      </p:sp>
      <p:sp>
        <p:nvSpPr>
          <p:cNvPr id="4" name="Text 2"/>
          <p:cNvSpPr/>
          <p:nvPr/>
        </p:nvSpPr>
        <p:spPr>
          <a:xfrm>
            <a:off x="5272088" y="4105275"/>
            <a:ext cx="977633" cy="977633"/>
          </a:xfrm>
          <a:prstGeom prst="roundRect">
            <a:avLst>
              <a:gd name="adj" fmla="val 11224"/>
            </a:avLst>
          </a:prstGeom>
          <a:solidFill>
            <a:srgbClr val="1C1A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Aa Bb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Cc Dd</a:t>
            </a: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400" y="1662113"/>
            <a:ext cx="304800" cy="34194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52763" y="4124325"/>
            <a:ext cx="977633" cy="977633"/>
          </a:xfrm>
          <a:prstGeom prst="roundRect">
            <a:avLst>
              <a:gd name="adj" fmla="val 11224"/>
            </a:avLst>
          </a:prstGeom>
          <a:solidFill>
            <a:srgbClr val="3046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0622" y="1690688"/>
            <a:ext cx="117927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86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COLORES NO APROVADOS</a:t>
            </a:r>
            <a:endParaRPr lang="en-US" sz="686" dirty="0"/>
          </a:p>
        </p:txBody>
      </p:sp>
      <p:sp>
        <p:nvSpPr>
          <p:cNvPr id="8" name="Text 5"/>
          <p:cNvSpPr/>
          <p:nvPr/>
        </p:nvSpPr>
        <p:spPr>
          <a:xfrm>
            <a:off x="2926147" y="3429000"/>
            <a:ext cx="117927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86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POCO CONTRASTE</a:t>
            </a:r>
            <a:endParaRPr lang="en-US" sz="686" dirty="0"/>
          </a:p>
        </p:txBody>
      </p:sp>
      <p:sp>
        <p:nvSpPr>
          <p:cNvPr id="9" name="Text 6"/>
          <p:cNvSpPr/>
          <p:nvPr/>
        </p:nvSpPr>
        <p:spPr>
          <a:xfrm>
            <a:off x="2849956" y="1652588"/>
            <a:ext cx="117927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86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LOGO DEFORMADO</a:t>
            </a:r>
            <a:endParaRPr lang="en-US" sz="686" dirty="0"/>
          </a:p>
        </p:txBody>
      </p:sp>
      <p:sp>
        <p:nvSpPr>
          <p:cNvPr id="10" name="Text 7"/>
          <p:cNvSpPr/>
          <p:nvPr/>
        </p:nvSpPr>
        <p:spPr>
          <a:xfrm>
            <a:off x="5050231" y="1652588"/>
            <a:ext cx="117927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86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Logo rotado</a:t>
            </a:r>
            <a:endParaRPr lang="en-US" sz="686" dirty="0"/>
          </a:p>
        </p:txBody>
      </p:sp>
      <p:sp>
        <p:nvSpPr>
          <p:cNvPr id="11" name="Text 8"/>
          <p:cNvSpPr/>
          <p:nvPr/>
        </p:nvSpPr>
        <p:spPr>
          <a:xfrm>
            <a:off x="659197" y="3429000"/>
            <a:ext cx="117927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86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EFECTOS SIN APROVAR</a:t>
            </a:r>
            <a:endParaRPr lang="en-US" sz="686" dirty="0"/>
          </a:p>
        </p:txBody>
      </p:sp>
      <p:sp>
        <p:nvSpPr>
          <p:cNvPr id="12" name="Text 9"/>
          <p:cNvSpPr/>
          <p:nvPr/>
        </p:nvSpPr>
        <p:spPr>
          <a:xfrm>
            <a:off x="5050222" y="3429000"/>
            <a:ext cx="117927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86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TIPOGRAFÍA INCORRECTA</a:t>
            </a:r>
            <a:endParaRPr lang="en-US" sz="686" dirty="0"/>
          </a:p>
        </p:txBody>
      </p:sp>
      <p:sp>
        <p:nvSpPr>
          <p:cNvPr id="13" name="Text 10"/>
          <p:cNvSpPr/>
          <p:nvPr/>
        </p:nvSpPr>
        <p:spPr>
          <a:xfrm>
            <a:off x="600075" y="1898435"/>
            <a:ext cx="199192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spc="1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se pueden usar los 5 colores de la paleta corp. Ningún otro color está permitido.</a:t>
            </a:r>
            <a:endParaRPr lang="en-US" sz="731" dirty="0"/>
          </a:p>
        </p:txBody>
      </p:sp>
      <p:sp>
        <p:nvSpPr>
          <p:cNvPr id="14" name="Text 11"/>
          <p:cNvSpPr/>
          <p:nvPr/>
        </p:nvSpPr>
        <p:spPr>
          <a:xfrm>
            <a:off x="2895600" y="3636747"/>
            <a:ext cx="199192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spc="1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logo ha de tener contraste suficiente con el fondo. No esta permitido usar colores similares conjuntamente.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2819400" y="1860335"/>
            <a:ext cx="199192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spc="1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estirar ni comprimir el logo en ningún eje. Siempre mantener las proporciones originales.</a:t>
            </a:r>
            <a:endParaRPr lang="en-US" sz="731" dirty="0"/>
          </a:p>
        </p:txBody>
      </p:sp>
      <p:sp>
        <p:nvSpPr>
          <p:cNvPr id="16" name="Text 13"/>
          <p:cNvSpPr/>
          <p:nvPr/>
        </p:nvSpPr>
        <p:spPr>
          <a:xfrm>
            <a:off x="5019675" y="1860335"/>
            <a:ext cx="199192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spc="1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logo siempre va con las olas de izquierda a derecha. no se puede rotar en ningún ángulo excepto en algunas excepciones muy concretas.</a:t>
            </a:r>
            <a:endParaRPr lang="en-US" sz="731" dirty="0"/>
          </a:p>
        </p:txBody>
      </p:sp>
      <p:sp>
        <p:nvSpPr>
          <p:cNvPr id="17" name="Text 14"/>
          <p:cNvSpPr/>
          <p:nvPr/>
        </p:nvSpPr>
        <p:spPr>
          <a:xfrm>
            <a:off x="628650" y="3636747"/>
            <a:ext cx="199192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spc="1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sombras suaves, degradados, brillo, ni ningún otro efecto que no esté definido en el manual.</a:t>
            </a:r>
            <a:endParaRPr lang="en-US" sz="731" dirty="0"/>
          </a:p>
        </p:txBody>
      </p:sp>
      <p:sp>
        <p:nvSpPr>
          <p:cNvPr id="18" name="Text 15"/>
          <p:cNvSpPr/>
          <p:nvPr/>
        </p:nvSpPr>
        <p:spPr>
          <a:xfrm>
            <a:off x="5019675" y="3636747"/>
            <a:ext cx="199192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spc="15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sustituir la tipografía Playfair Display del logo por ninguna otra familia.</a:t>
            </a:r>
            <a:endParaRPr lang="en-US" sz="731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81200" y="1966912"/>
            <a:ext cx="423863" cy="48577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95598" y="2390775"/>
            <a:ext cx="1395205" cy="85288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34016" y="2590800"/>
            <a:ext cx="654121" cy="49748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81100" y="4224338"/>
            <a:ext cx="535298" cy="692467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314700" y="4267200"/>
            <a:ext cx="495300" cy="6524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638175"/>
            <a:ext cx="436721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La marca en el </a:t>
            </a:r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mundo real</a:t>
            </a:r>
            <a:endParaRPr lang="en-US" sz="3028" dirty="0"/>
          </a:p>
        </p:txBody>
      </p:sp>
      <p:sp>
        <p:nvSpPr>
          <p:cNvPr id="3" name="Text 1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10 - APLICACIONES DE MARCA</a:t>
            </a:r>
            <a:endParaRPr lang="en-US" sz="534" dirty="0"/>
          </a:p>
        </p:txBody>
      </p:sp>
      <p:sp>
        <p:nvSpPr>
          <p:cNvPr id="4" name="Text 2"/>
          <p:cNvSpPr/>
          <p:nvPr/>
        </p:nvSpPr>
        <p:spPr>
          <a:xfrm>
            <a:off x="4876800" y="814388"/>
            <a:ext cx="6810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01 - PACKAGING</a:t>
            </a:r>
            <a:endParaRPr lang="en-US" sz="534" dirty="0"/>
          </a:p>
        </p:txBody>
      </p:sp>
      <p:sp>
        <p:nvSpPr>
          <p:cNvPr id="5" name="Text 3"/>
          <p:cNvSpPr/>
          <p:nvPr/>
        </p:nvSpPr>
        <p:spPr>
          <a:xfrm>
            <a:off x="5638800" y="762000"/>
            <a:ext cx="19812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Vaso café “take away”</a:t>
            </a:r>
            <a:endParaRPr lang="en-US" sz="128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11650" t="0" b="30990"/>
          <a:stretch/>
        </p:blipFill>
        <p:spPr>
          <a:xfrm>
            <a:off x="2895600" y="-333375"/>
            <a:ext cx="62484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16230" t="0" b="69535"/>
          <a:stretch/>
        </p:blipFill>
        <p:spPr>
          <a:xfrm>
            <a:off x="-776287" y="-1804987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17760"/>
          <a:stretch/>
        </p:blipFill>
        <p:spPr>
          <a:xfrm>
            <a:off x="4681538" y="-757237"/>
            <a:ext cx="424815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2400" y="638175"/>
            <a:ext cx="436721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La marca en el </a:t>
            </a:r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mundo real</a:t>
            </a:r>
            <a:endParaRPr lang="en-US" sz="3028" dirty="0"/>
          </a:p>
        </p:txBody>
      </p:sp>
      <p:sp>
        <p:nvSpPr>
          <p:cNvPr id="5" name="Text 1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10 - APLICACIONES DE MARCA</a:t>
            </a:r>
            <a:endParaRPr lang="en-US" sz="534" dirty="0"/>
          </a:p>
        </p:txBody>
      </p:sp>
      <p:sp>
        <p:nvSpPr>
          <p:cNvPr id="6" name="Text 2"/>
          <p:cNvSpPr/>
          <p:nvPr/>
        </p:nvSpPr>
        <p:spPr>
          <a:xfrm>
            <a:off x="7772400" y="457200"/>
            <a:ext cx="6810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02 - ROPA</a:t>
            </a:r>
            <a:endParaRPr lang="en-US" sz="534" dirty="0"/>
          </a:p>
        </p:txBody>
      </p:sp>
      <p:sp>
        <p:nvSpPr>
          <p:cNvPr id="7" name="Text 3"/>
          <p:cNvSpPr/>
          <p:nvPr/>
        </p:nvSpPr>
        <p:spPr>
          <a:xfrm>
            <a:off x="7772400" y="604838"/>
            <a:ext cx="19812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Delantal</a:t>
            </a:r>
            <a:endParaRPr lang="en-US" sz="12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" y="638175"/>
            <a:ext cx="436721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La marca en el </a:t>
            </a:r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1B3A52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mundo real</a:t>
            </a:r>
            <a:endParaRPr lang="en-US" sz="3028" dirty="0"/>
          </a:p>
        </p:txBody>
      </p:sp>
      <p:sp>
        <p:nvSpPr>
          <p:cNvPr id="3" name="Text 1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10 - APLICACIONES DE MARCA</a:t>
            </a:r>
            <a:endParaRPr lang="en-US" sz="534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6810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dirty="0">
                <a:solidFill>
                  <a:srgbClr val="1B3A52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02 - Props</a:t>
            </a:r>
            <a:endParaRPr lang="en-US" sz="534" dirty="0"/>
          </a:p>
        </p:txBody>
      </p:sp>
      <p:sp>
        <p:nvSpPr>
          <p:cNvPr id="5" name="Text 3"/>
          <p:cNvSpPr/>
          <p:nvPr/>
        </p:nvSpPr>
        <p:spPr>
          <a:xfrm>
            <a:off x="7772400" y="604838"/>
            <a:ext cx="19812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Bolsa de café</a:t>
            </a:r>
            <a:endParaRPr lang="en-US" sz="128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14529" t="0" b="34106"/>
          <a:stretch/>
        </p:blipFill>
        <p:spPr>
          <a:xfrm>
            <a:off x="1495425" y="-1333500"/>
            <a:ext cx="764857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23077"/>
          <a:stretch/>
        </p:blipFill>
        <p:spPr>
          <a:xfrm>
            <a:off x="0" y="-15430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" y="357188"/>
            <a:ext cx="231933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8"/>
              </a:lnSpc>
              <a:buNone/>
            </a:pPr>
            <a:r>
              <a:rPr lang="en-US" sz="534" spc="59" kern="0" dirty="0">
                <a:solidFill>
                  <a:srgbClr val="4A6741">
                    <a:alpha val="99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11 - Contacto</a:t>
            </a:r>
            <a:endParaRPr lang="en-US" sz="534" dirty="0"/>
          </a:p>
        </p:txBody>
      </p:sp>
      <p:sp>
        <p:nvSpPr>
          <p:cNvPr id="4" name="Text 1"/>
          <p:cNvSpPr/>
          <p:nvPr/>
        </p:nvSpPr>
        <p:spPr>
          <a:xfrm>
            <a:off x="152400" y="590550"/>
            <a:ext cx="531971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Encuéntranos</a:t>
            </a:r>
            <a:endParaRPr lang="en-US" sz="3028" dirty="0"/>
          </a:p>
        </p:txBody>
      </p:sp>
      <p:sp>
        <p:nvSpPr>
          <p:cNvPr id="5" name="Text 2"/>
          <p:cNvSpPr/>
          <p:nvPr/>
        </p:nvSpPr>
        <p:spPr>
          <a:xfrm>
            <a:off x="1376363" y="1700213"/>
            <a:ext cx="18240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b="1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Dirección</a:t>
            </a:r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Carrer de la Llum, 12 Barcelona 08003</a:t>
            </a:r>
            <a:endParaRPr lang="en-US" sz="570" dirty="0"/>
          </a:p>
        </p:txBody>
      </p:sp>
      <p:sp>
        <p:nvSpPr>
          <p:cNvPr id="6" name="Text 3"/>
          <p:cNvSpPr/>
          <p:nvPr/>
        </p:nvSpPr>
        <p:spPr>
          <a:xfrm>
            <a:off x="1376363" y="1928813"/>
            <a:ext cx="1476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b="1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Horario:</a:t>
            </a:r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Martes – Viernes: 8:00 – 20:00 Sábado – Domingo: 9:00 – 21:00 </a:t>
            </a:r>
            <a:endParaRPr lang="en-US" sz="570" dirty="0"/>
          </a:p>
          <a:p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Lunes: Cerrado</a:t>
            </a:r>
            <a:endParaRPr lang="en-US" sz="570" dirty="0"/>
          </a:p>
        </p:txBody>
      </p:sp>
      <p:sp>
        <p:nvSpPr>
          <p:cNvPr id="7" name="Text 4"/>
          <p:cNvSpPr/>
          <p:nvPr/>
        </p:nvSpPr>
        <p:spPr>
          <a:xfrm>
            <a:off x="1376363" y="2300288"/>
            <a:ext cx="857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b="1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Email:</a:t>
            </a:r>
            <a:pPr algn="l" indent="0" marL="0">
              <a:lnSpc>
                <a:spcPts val="798"/>
              </a:lnSpc>
              <a:buNone/>
            </a:pPr>
            <a:r>
              <a:rPr lang="en-US" sz="570" u="sng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hola@solell.cat</a:t>
            </a:r>
            <a:endParaRPr lang="en-US" sz="570" dirty="0"/>
          </a:p>
        </p:txBody>
      </p:sp>
      <p:sp>
        <p:nvSpPr>
          <p:cNvPr id="8" name="Text 5"/>
          <p:cNvSpPr/>
          <p:nvPr/>
        </p:nvSpPr>
        <p:spPr>
          <a:xfrm>
            <a:off x="1376363" y="2476500"/>
            <a:ext cx="1123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b="1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Teléfono: </a:t>
            </a:r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+34 93 000 00 00</a:t>
            </a:r>
            <a:endParaRPr lang="en-US" sz="570" dirty="0"/>
          </a:p>
        </p:txBody>
      </p:sp>
      <p:sp>
        <p:nvSpPr>
          <p:cNvPr id="9" name="Text 6"/>
          <p:cNvSpPr/>
          <p:nvPr/>
        </p:nvSpPr>
        <p:spPr>
          <a:xfrm>
            <a:off x="1376363" y="2638425"/>
            <a:ext cx="1123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b="1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Redes: </a:t>
            </a:r>
            <a:pPr algn="l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@solell.bcn / solell.cat</a:t>
            </a:r>
            <a:endParaRPr lang="en-US" sz="570" dirty="0"/>
          </a:p>
        </p:txBody>
      </p:sp>
      <p:sp>
        <p:nvSpPr>
          <p:cNvPr id="10" name="Shape 7"/>
          <p:cNvSpPr/>
          <p:nvPr/>
        </p:nvSpPr>
        <p:spPr>
          <a:xfrm>
            <a:off x="3676650" y="1543050"/>
            <a:ext cx="2973121" cy="2571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76650" y="1543050"/>
            <a:ext cx="2973121" cy="2571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220840" y="1828331"/>
            <a:ext cx="133790" cy="203163"/>
          </a:xfrm>
          <a:prstGeom prst="rect">
            <a:avLst/>
          </a:prstGeom>
          <a:noFill/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35704" y="1974758"/>
            <a:ext cx="104068" cy="5203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5704" y="1974758"/>
            <a:ext cx="104068" cy="5203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240653" y="1977123"/>
            <a:ext cx="94152" cy="4730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rcRect l="0" r="1" t="0" b="0"/>
          <a:stretch/>
        </p:blipFill>
        <p:spPr>
          <a:xfrm>
            <a:off x="4245601" y="1979488"/>
            <a:ext cx="84237" cy="4257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8"/>
          <a:srcRect l="0" r="9" t="0" b="0"/>
          <a:stretch/>
        </p:blipFill>
        <p:spPr>
          <a:xfrm>
            <a:off x="4250568" y="1981853"/>
            <a:ext cx="74321" cy="3784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255517" y="1984218"/>
            <a:ext cx="64424" cy="33110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260466" y="1986583"/>
            <a:ext cx="54508" cy="28380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1"/>
          <a:srcRect l="0" r="9" t="0" b="0"/>
          <a:stretch/>
        </p:blipFill>
        <p:spPr>
          <a:xfrm>
            <a:off x="4265433" y="1988948"/>
            <a:ext cx="44593" cy="23650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220840" y="1828331"/>
            <a:ext cx="133790" cy="174671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220840" y="1828331"/>
            <a:ext cx="133790" cy="174713"/>
          </a:xfrm>
          <a:prstGeom prst="rect">
            <a:avLst/>
          </a:prstGeom>
        </p:spPr>
      </p:pic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14"/>
          <a:srcRect l="0" r="-2" t="0" b="0"/>
          <a:stretch/>
        </p:blipFill>
        <p:spPr>
          <a:xfrm>
            <a:off x="4260466" y="1867972"/>
            <a:ext cx="54508" cy="54507"/>
          </a:xfrm>
          <a:prstGeom prst="rect">
            <a:avLst/>
          </a:prstGeom>
        </p:spPr>
      </p:pic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15"/>
          <a:srcRect l="0" r="-2" t="0" b="0"/>
          <a:stretch/>
        </p:blipFill>
        <p:spPr>
          <a:xfrm>
            <a:off x="4260466" y="1867972"/>
            <a:ext cx="54508" cy="54507"/>
          </a:xfrm>
          <a:prstGeom prst="rect">
            <a:avLst/>
          </a:prstGeom>
        </p:spPr>
      </p:pic>
      <p:sp>
        <p:nvSpPr>
          <p:cNvPr id="25" name="Shape 9"/>
          <p:cNvSpPr/>
          <p:nvPr/>
        </p:nvSpPr>
        <p:spPr>
          <a:xfrm>
            <a:off x="4529696" y="2844147"/>
            <a:ext cx="1894567" cy="155869"/>
          </a:xfrm>
          <a:prstGeom prst="rect">
            <a:avLst/>
          </a:prstGeom>
          <a:noFill/>
          <a:ln/>
        </p:spPr>
      </p:sp>
      <p:sp>
        <p:nvSpPr>
          <p:cNvPr id="26" name="Shape 10"/>
          <p:cNvSpPr/>
          <p:nvPr/>
        </p:nvSpPr>
        <p:spPr>
          <a:xfrm>
            <a:off x="4529696" y="2844147"/>
            <a:ext cx="1894567" cy="126137"/>
          </a:xfrm>
          <a:prstGeom prst="roundRect">
            <a:avLst>
              <a:gd name="adj" fmla="val 60341"/>
            </a:avLst>
          </a:prstGeom>
          <a:solidFill>
            <a:srgbClr val="0F0F14">
              <a:alpha val="88000"/>
            </a:srgbClr>
          </a:solidFill>
          <a:ln/>
        </p:spPr>
      </p:sp>
      <p:sp>
        <p:nvSpPr>
          <p:cNvPr id="27" name="Text 11"/>
          <p:cNvSpPr/>
          <p:nvPr/>
        </p:nvSpPr>
        <p:spPr>
          <a:xfrm>
            <a:off x="4579255" y="2873878"/>
            <a:ext cx="17954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08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Carrer de Sant Pere Més Alt, 10, Ciutat Vella, 08003 Barcelona, Spain</a:t>
            </a:r>
            <a:endParaRPr lang="en-US" sz="408" dirty="0"/>
          </a:p>
        </p:txBody>
      </p:sp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6"/>
          <a:srcRect l="0" r="8" t="0" b="0"/>
          <a:stretch/>
        </p:blipFill>
        <p:spPr>
          <a:xfrm>
            <a:off x="5447240" y="2970284"/>
            <a:ext cx="59457" cy="297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7163" y="595313"/>
            <a:ext cx="6567488" cy="48577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157163" y="595313"/>
            <a:ext cx="6567488" cy="485775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7163" y="595313"/>
            <a:ext cx="6567488" cy="4857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4313" y="1981200"/>
            <a:ext cx="13906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4"/>
              </a:lnSpc>
              <a:buNone/>
            </a:pPr>
            <a:r>
              <a:rPr lang="en-US" sz="3028" spc="-61" kern="0" dirty="0">
                <a:solidFill>
                  <a:srgbClr val="000000">
                    <a:alpha val="99000"/>
                  </a:srgbClr>
                </a:solidFill>
                <a:latin typeface="Protest Demo" pitchFamily="34" charset="0"/>
                <a:ea typeface="Protest Demo" pitchFamily="34" charset="-122"/>
                <a:cs typeface="Protest Demo" pitchFamily="34" charset="-120"/>
              </a:rPr>
              <a:t>olell</a:t>
            </a:r>
            <a:endParaRPr lang="en-US" sz="3028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29038" y="2005013"/>
            <a:ext cx="322138" cy="4238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62362" y="2495550"/>
            <a:ext cx="18240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b="1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el cafè troba la llum</a:t>
            </a:r>
            <a:endParaRPr lang="en-US" sz="570" dirty="0"/>
          </a:p>
        </p:txBody>
      </p:sp>
      <p:sp>
        <p:nvSpPr>
          <p:cNvPr id="8" name="Text 4"/>
          <p:cNvSpPr/>
          <p:nvPr/>
        </p:nvSpPr>
        <p:spPr>
          <a:xfrm>
            <a:off x="3133725" y="4724400"/>
            <a:ext cx="28813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b="1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d'Identitat Corporativa v4.0 · 2026 Ús intern · Barcelona</a:t>
            </a:r>
            <a:endParaRPr lang="en-US" sz="570" dirty="0"/>
          </a:p>
        </p:txBody>
      </p:sp>
      <p:sp>
        <p:nvSpPr>
          <p:cNvPr id="9" name="Text 5"/>
          <p:cNvSpPr/>
          <p:nvPr/>
        </p:nvSpPr>
        <p:spPr>
          <a:xfrm>
            <a:off x="3657600" y="4981575"/>
            <a:ext cx="18240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8"/>
              </a:lnSpc>
              <a:buNone/>
            </a:pPr>
            <a:r>
              <a:rPr lang="en-US" sz="570" spc="11" kern="0" dirty="0">
                <a:solidFill>
                  <a:srgbClr val="1C1A17">
                    <a:alpha val="99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sunny · Sempre Solell</a:t>
            </a:r>
            <a:endParaRPr lang="en-US" sz="5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2026-04-12T07:31:24Z</dcterms:created>
  <dcterms:modified xsi:type="dcterms:W3CDTF">2026-04-12T07:31:24Z</dcterms:modified>
</cp:coreProperties>
</file>